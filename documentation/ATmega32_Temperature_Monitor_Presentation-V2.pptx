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9" r:id="rId10"/>
    <p:sldId id="270" r:id="rId11"/>
    <p:sldId id="271" r:id="rId12"/>
    <p:sldId id="264" r:id="rId13"/>
    <p:sldId id="265" r:id="rId14"/>
    <p:sldId id="266" r:id="rId15"/>
    <p:sldId id="267"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4" autoAdjust="0"/>
    <p:restoredTop sz="94610"/>
  </p:normalViewPr>
  <p:slideViewPr>
    <p:cSldViewPr snapToGrid="0" snapToObjects="1">
      <p:cViewPr>
        <p:scale>
          <a:sx n="102" d="100"/>
          <a:sy n="102" d="100"/>
        </p:scale>
        <p:origin x="24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ADC Counts by Test Case</a:t>
            </a:r>
          </a:p>
        </c:rich>
      </c:tx>
      <c:overlay val="0"/>
    </c:title>
    <c:autoTitleDeleted val="0"/>
    <c:plotArea>
      <c:layout/>
      <c:barChart>
        <c:barDir val="col"/>
        <c:grouping val="clustered"/>
        <c:varyColors val="0"/>
        <c:ser>
          <c:idx val="0"/>
          <c:order val="0"/>
          <c:tx>
            <c:strRef>
              <c:f>Sheet1!$B$1</c:f>
              <c:strCache>
                <c:ptCount val="1"/>
                <c:pt idx="0">
                  <c:v>ADC Count</c:v>
                </c:pt>
              </c:strCache>
            </c:strRef>
          </c:tx>
          <c:spPr>
            <a:solidFill>
              <a:srgbClr val="0D7377"/>
            </a:solidFill>
            <a:effectLst/>
          </c:spPr>
          <c:invertIfNegative val="0"/>
          <c:dLbls>
            <c:numFmt formatCode="#,##0" sourceLinked="0"/>
            <c:spPr>
              <a:noFill/>
              <a:ln>
                <a:noFill/>
              </a:ln>
              <a:effectLst/>
            </c:spPr>
            <c:txPr>
              <a:bodyPr/>
              <a:lstStyle/>
              <a:p>
                <a:pPr>
                  <a:defRPr sz="1200" b="0" i="0" u="none" strike="noStrike">
                    <a:solidFill>
                      <a:srgbClr val="1A2C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TC-01
20°C</c:v>
                </c:pt>
                <c:pt idx="1">
                  <c:v>TC-02
30°C</c:v>
                </c:pt>
                <c:pt idx="2">
                  <c:v>TC-03
40°C</c:v>
                </c:pt>
                <c:pt idx="3">
                  <c:v>TC-05
25°C</c:v>
                </c:pt>
                <c:pt idx="4">
                  <c:v>TC-06
35°C</c:v>
                </c:pt>
                <c:pt idx="5">
                  <c:v>TC-07
20→40°C</c:v>
                </c:pt>
              </c:strCache>
            </c:strRef>
          </c:cat>
          <c:val>
            <c:numRef>
              <c:f>Sheet1!$B$2:$B$7</c:f>
              <c:numCache>
                <c:formatCode>General</c:formatCode>
                <c:ptCount val="6"/>
                <c:pt idx="0">
                  <c:v>41</c:v>
                </c:pt>
                <c:pt idx="1">
                  <c:v>61</c:v>
                </c:pt>
                <c:pt idx="2">
                  <c:v>82</c:v>
                </c:pt>
                <c:pt idx="3">
                  <c:v>51</c:v>
                </c:pt>
                <c:pt idx="4">
                  <c:v>72</c:v>
                </c:pt>
                <c:pt idx="5">
                  <c:v>62</c:v>
                </c:pt>
              </c:numCache>
            </c:numRef>
          </c:val>
          <c:extLst>
            <c:ext xmlns:c16="http://schemas.microsoft.com/office/drawing/2014/chart" uri="{C3380CC4-5D6E-409C-BE32-E72D297353CC}">
              <c16:uniqueId val="{00000000-E994-46BE-B803-F8238D3FB9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4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5864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Group 1's presentation for CG 221 PBL Project 2. We built a complete Analog Temperature Monitoring System using the ATmega32 microcontroller.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overview of what we will cover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ATmega32 is an 8-bit AVR microcontroller. It can only process digital signals, so we use its built-in 10-bit ADC to read the analog voltage from the LM35 sensor.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8 clear objectives for this project covering hardware, firmware, simulation, and documentation.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LM35 outputs 10 millivolts per degree Celsius. This analog voltage goes into the ATmega32 ADC on pin PA0. The firmware processes it and drives the output peripherals.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PA0 is used as the analog input. Port B pins 0-3 drive the LEDs and buzzer. PD1 handles USART transmit. AVCC and AREF need proper decoupling capacitors for clean ADC readings.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firmware uses only integer arithmetic to avoid floating-point overhead on the 8-bit AVR. The formula T = ADC×500/1023 is accurate to within half a degree Celsius.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was drawn in KiCad 7. The PCB was carefully laid out with the LM35 at the board edge for good airflow, and decoupling capacitors placed as close as possible to the MCU pins.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four main conditions plus boundary tests. The ADC reads correctly and the firmware correctly switches between LED states. USART output was confirmed in SimulIDE's serial monitor.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integer formula T = ADC×500/1023 is accurate to within half a degree Celsius, which matches the LM35 sensor's own typical accuracy of plus or minus half a degree.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test cases passed in SimulIDE. The firmware correctly handles all temperature zones, boundary conditions, sensor errors, and USART data logging.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has 11 commits following good version control practices — each commit covers one logical milestone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successfully built a complete temperature monitoring system from schematic design to simulation. The project gave us hands-on experience with AVR microcontroller programming, analog sensor interfacing, PCB design, and proper documentation practices.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C5B"/>
        </a:solidFill>
        <a:effectLst/>
      </p:bgPr>
    </p:bg>
    <p:spTree>
      <p:nvGrpSpPr>
        <p:cNvPr id="1" name=""/>
        <p:cNvGrpSpPr/>
        <p:nvPr/>
      </p:nvGrpSpPr>
      <p:grpSpPr>
        <a:xfrm>
          <a:off x="0" y="0"/>
          <a:ext cx="0" cy="0"/>
          <a:chOff x="0" y="0"/>
          <a:chExt cx="0" cy="0"/>
        </a:xfrm>
      </p:grpSpPr>
      <p:sp>
        <p:nvSpPr>
          <p:cNvPr id="2" name="Shape 0"/>
          <p:cNvSpPr/>
          <p:nvPr/>
        </p:nvSpPr>
        <p:spPr>
          <a:xfrm>
            <a:off x="6217920" y="-1097280"/>
            <a:ext cx="4572000" cy="4572000"/>
          </a:xfrm>
          <a:prstGeom prst="ellipse">
            <a:avLst/>
          </a:prstGeom>
          <a:solidFill>
            <a:srgbClr val="0D7377">
              <a:alpha val="20000"/>
            </a:srgbClr>
          </a:solidFill>
          <a:ln w="12700">
            <a:solidFill>
              <a:srgbClr val="0D7377">
                <a:alpha val="30000"/>
              </a:srgbClr>
            </a:solidFill>
            <a:prstDash val="solid"/>
          </a:ln>
        </p:spPr>
      </p:sp>
      <p:sp>
        <p:nvSpPr>
          <p:cNvPr id="3" name="Shape 1"/>
          <p:cNvSpPr/>
          <p:nvPr/>
        </p:nvSpPr>
        <p:spPr>
          <a:xfrm>
            <a:off x="7132320" y="-457200"/>
            <a:ext cx="3200400" cy="3200400"/>
          </a:xfrm>
          <a:prstGeom prst="ellipse">
            <a:avLst/>
          </a:prstGeom>
          <a:solidFill>
            <a:srgbClr val="0D7377">
              <a:alpha val="40000"/>
            </a:srgbClr>
          </a:solidFill>
          <a:ln w="12700">
            <a:solidFill>
              <a:srgbClr val="0D7377">
                <a:alpha val="40000"/>
              </a:srgbClr>
            </a:solidFill>
            <a:prstDash val="solid"/>
          </a:ln>
        </p:spPr>
      </p:sp>
      <p:sp>
        <p:nvSpPr>
          <p:cNvPr id="4" name="Shape 2"/>
          <p:cNvSpPr/>
          <p:nvPr/>
        </p:nvSpPr>
        <p:spPr>
          <a:xfrm>
            <a:off x="-914400" y="3474720"/>
            <a:ext cx="3200400" cy="3200400"/>
          </a:xfrm>
          <a:prstGeom prst="ellipse">
            <a:avLst/>
          </a:prstGeom>
          <a:solidFill>
            <a:srgbClr val="0D7377">
              <a:alpha val="15000"/>
            </a:srgbClr>
          </a:solidFill>
          <a:ln w="12700">
            <a:solidFill>
              <a:srgbClr val="0D7377">
                <a:alpha val="15000"/>
              </a:srgbClr>
            </a:solidFill>
            <a:prstDash val="solid"/>
          </a:ln>
        </p:spPr>
      </p:sp>
      <p:sp>
        <p:nvSpPr>
          <p:cNvPr id="5" name="Text 3"/>
          <p:cNvSpPr/>
          <p:nvPr/>
        </p:nvSpPr>
        <p:spPr>
          <a:xfrm>
            <a:off x="548640" y="328808"/>
            <a:ext cx="8046720" cy="274320"/>
          </a:xfrm>
          <a:prstGeom prst="rect">
            <a:avLst/>
          </a:prstGeom>
          <a:noFill/>
          <a:ln/>
        </p:spPr>
        <p:txBody>
          <a:bodyPr wrap="square" rtlCol="0" anchor="ctr"/>
          <a:lstStyle/>
          <a:p>
            <a:pPr marL="0" indent="0">
              <a:buNone/>
            </a:pPr>
            <a:r>
              <a:rPr lang="en-US" sz="1000" kern="0" spc="200" dirty="0">
                <a:solidFill>
                  <a:srgbClr val="8FBBCF"/>
                </a:solidFill>
                <a:latin typeface="Calibri" pitchFamily="34" charset="0"/>
                <a:ea typeface="Calibri" pitchFamily="34" charset="-122"/>
                <a:cs typeface="Calibri" pitchFamily="34" charset="-120"/>
              </a:rPr>
              <a:t>UNIVERSITY OF DODOMA  |  CT321 |  2025/2026</a:t>
            </a:r>
            <a:endParaRPr lang="en-US" sz="1000" dirty="0"/>
          </a:p>
        </p:txBody>
      </p:sp>
      <p:sp>
        <p:nvSpPr>
          <p:cNvPr id="6" name="Text 4"/>
          <p:cNvSpPr/>
          <p:nvPr/>
        </p:nvSpPr>
        <p:spPr>
          <a:xfrm>
            <a:off x="548640" y="777240"/>
            <a:ext cx="6858000" cy="20116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Analog Temperature</a:t>
            </a:r>
            <a:endParaRPr lang="en-US" sz="3800" dirty="0"/>
          </a:p>
          <a:p>
            <a:pPr marL="0" indent="0">
              <a:buNone/>
            </a:pPr>
            <a:r>
              <a:rPr lang="en-US" sz="3800" b="1" dirty="0">
                <a:solidFill>
                  <a:srgbClr val="FFFFFF"/>
                </a:solidFill>
                <a:latin typeface="Cambria" pitchFamily="34" charset="0"/>
                <a:ea typeface="Cambria" pitchFamily="34" charset="-122"/>
                <a:cs typeface="Cambria" pitchFamily="34" charset="-120"/>
              </a:rPr>
              <a:t>Monitoring System</a:t>
            </a:r>
            <a:endParaRPr lang="en-US" sz="3800" dirty="0"/>
          </a:p>
        </p:txBody>
      </p:sp>
      <p:sp>
        <p:nvSpPr>
          <p:cNvPr id="7" name="Text 5"/>
          <p:cNvSpPr/>
          <p:nvPr/>
        </p:nvSpPr>
        <p:spPr>
          <a:xfrm>
            <a:off x="548640" y="2834640"/>
            <a:ext cx="6858000" cy="777240"/>
          </a:xfrm>
          <a:prstGeom prst="rect">
            <a:avLst/>
          </a:prstGeom>
          <a:noFill/>
          <a:ln/>
        </p:spPr>
        <p:txBody>
          <a:bodyPr wrap="square" rtlCol="0" anchor="ctr"/>
          <a:lstStyle/>
          <a:p>
            <a:pPr marL="0" indent="0">
              <a:buNone/>
            </a:pPr>
            <a:r>
              <a:rPr lang="en-US" sz="1500" i="1" dirty="0">
                <a:solidFill>
                  <a:srgbClr val="A8C8DC"/>
                </a:solidFill>
                <a:latin typeface="Calibri" pitchFamily="34" charset="0"/>
                <a:ea typeface="Calibri" pitchFamily="34" charset="-122"/>
                <a:cs typeface="Calibri" pitchFamily="34" charset="-120"/>
              </a:rPr>
              <a:t>Using ATmega32 ADC, LM35 Sensor</a:t>
            </a:r>
            <a:endParaRPr lang="en-US" sz="1500" dirty="0"/>
          </a:p>
          <a:p>
            <a:pPr marL="0" indent="0">
              <a:buNone/>
            </a:pPr>
            <a:r>
              <a:rPr lang="en-US" sz="1500" i="1" dirty="0">
                <a:solidFill>
                  <a:srgbClr val="A8C8DC"/>
                </a:solidFill>
                <a:latin typeface="Calibri" pitchFamily="34" charset="0"/>
                <a:ea typeface="Calibri" pitchFamily="34" charset="-122"/>
                <a:cs typeface="Calibri" pitchFamily="34" charset="-120"/>
              </a:rPr>
              <a:t>KiCad  ·  SimulIDE  ·  MPLAB for VS Code</a:t>
            </a:r>
            <a:endParaRPr lang="en-US" sz="1500" dirty="0"/>
          </a:p>
        </p:txBody>
      </p:sp>
      <p:sp>
        <p:nvSpPr>
          <p:cNvPr id="8" name="Shape 6"/>
          <p:cNvSpPr/>
          <p:nvPr/>
        </p:nvSpPr>
        <p:spPr>
          <a:xfrm>
            <a:off x="548640" y="3703320"/>
            <a:ext cx="3200400" cy="36576"/>
          </a:xfrm>
          <a:prstGeom prst="rect">
            <a:avLst/>
          </a:prstGeom>
          <a:solidFill>
            <a:srgbClr val="0D7377"/>
          </a:solidFill>
          <a:ln w="12700">
            <a:solidFill>
              <a:srgbClr val="0D7377"/>
            </a:solidFill>
            <a:prstDash val="solid"/>
          </a:ln>
        </p:spPr>
      </p:sp>
      <p:sp>
        <p:nvSpPr>
          <p:cNvPr id="9" name="Shape 7"/>
          <p:cNvSpPr/>
          <p:nvPr/>
        </p:nvSpPr>
        <p:spPr>
          <a:xfrm>
            <a:off x="548640" y="3931920"/>
            <a:ext cx="2194560" cy="384048"/>
          </a:xfrm>
          <a:prstGeom prst="roundRect">
            <a:avLst>
              <a:gd name="adj" fmla="val 11905"/>
            </a:avLst>
          </a:prstGeom>
          <a:solidFill>
            <a:srgbClr val="0D7377"/>
          </a:solidFill>
          <a:ln w="12700">
            <a:solidFill>
              <a:srgbClr val="0D7377"/>
            </a:solidFill>
            <a:prstDash val="solid"/>
          </a:ln>
        </p:spPr>
      </p:sp>
      <p:sp>
        <p:nvSpPr>
          <p:cNvPr id="10" name="Text 8"/>
          <p:cNvSpPr/>
          <p:nvPr/>
        </p:nvSpPr>
        <p:spPr>
          <a:xfrm>
            <a:off x="548640" y="3950208"/>
            <a:ext cx="21945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PBL Project 2  –  Group 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Presentation Outline</a:t>
            </a:r>
            <a:endParaRPr lang="en-US" sz="2800" dirty="0"/>
          </a:p>
        </p:txBody>
      </p:sp>
      <p:sp>
        <p:nvSpPr>
          <p:cNvPr id="3" name="Shape 1"/>
          <p:cNvSpPr/>
          <p:nvPr/>
        </p:nvSpPr>
        <p:spPr>
          <a:xfrm>
            <a:off x="502920" y="822960"/>
            <a:ext cx="8138160" cy="36576"/>
          </a:xfrm>
          <a:prstGeom prst="rect">
            <a:avLst/>
          </a:prstGeom>
          <a:solidFill>
            <a:srgbClr val="0D7377"/>
          </a:solidFill>
          <a:ln w="12700">
            <a:solidFill>
              <a:srgbClr val="0D7377"/>
            </a:solidFill>
            <a:prstDash val="solid"/>
          </a:ln>
        </p:spPr>
      </p:sp>
      <p:sp>
        <p:nvSpPr>
          <p:cNvPr id="4" name="Shape 2"/>
          <p:cNvSpPr/>
          <p:nvPr/>
        </p:nvSpPr>
        <p:spPr>
          <a:xfrm>
            <a:off x="502920" y="100584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5" name="Shape 3"/>
          <p:cNvSpPr/>
          <p:nvPr/>
        </p:nvSpPr>
        <p:spPr>
          <a:xfrm>
            <a:off x="612648" y="1133856"/>
            <a:ext cx="438912" cy="438912"/>
          </a:xfrm>
          <a:prstGeom prst="ellipse">
            <a:avLst/>
          </a:prstGeom>
          <a:solidFill>
            <a:srgbClr val="1A2C5B"/>
          </a:solidFill>
          <a:ln w="12700">
            <a:solidFill>
              <a:srgbClr val="1A2C5B"/>
            </a:solidFill>
            <a:prstDash val="solid"/>
          </a:ln>
        </p:spPr>
      </p:sp>
      <p:sp>
        <p:nvSpPr>
          <p:cNvPr id="6" name="Text 4"/>
          <p:cNvSpPr/>
          <p:nvPr/>
        </p:nvSpPr>
        <p:spPr>
          <a:xfrm>
            <a:off x="612648" y="113385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1124712" y="107899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Introduction &amp; Problem Statement</a:t>
            </a:r>
            <a:endParaRPr lang="en-US" sz="1300" dirty="0"/>
          </a:p>
        </p:txBody>
      </p:sp>
      <p:sp>
        <p:nvSpPr>
          <p:cNvPr id="8" name="Shape 6"/>
          <p:cNvSpPr/>
          <p:nvPr/>
        </p:nvSpPr>
        <p:spPr>
          <a:xfrm>
            <a:off x="502920" y="187452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9" name="Shape 7"/>
          <p:cNvSpPr/>
          <p:nvPr/>
        </p:nvSpPr>
        <p:spPr>
          <a:xfrm>
            <a:off x="612648" y="2002536"/>
            <a:ext cx="438912" cy="438912"/>
          </a:xfrm>
          <a:prstGeom prst="ellipse">
            <a:avLst/>
          </a:prstGeom>
          <a:solidFill>
            <a:srgbClr val="1A2C5B"/>
          </a:solidFill>
          <a:ln w="12700">
            <a:solidFill>
              <a:srgbClr val="1A2C5B"/>
            </a:solidFill>
            <a:prstDash val="solid"/>
          </a:ln>
        </p:spPr>
      </p:sp>
      <p:sp>
        <p:nvSpPr>
          <p:cNvPr id="10" name="Text 8"/>
          <p:cNvSpPr/>
          <p:nvPr/>
        </p:nvSpPr>
        <p:spPr>
          <a:xfrm>
            <a:off x="612648" y="200253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1124712" y="194767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System Block Diagram</a:t>
            </a:r>
            <a:endParaRPr lang="en-US" sz="1300" dirty="0"/>
          </a:p>
        </p:txBody>
      </p:sp>
      <p:sp>
        <p:nvSpPr>
          <p:cNvPr id="12" name="Shape 10"/>
          <p:cNvSpPr/>
          <p:nvPr/>
        </p:nvSpPr>
        <p:spPr>
          <a:xfrm>
            <a:off x="502920" y="274320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3" name="Shape 11"/>
          <p:cNvSpPr/>
          <p:nvPr/>
        </p:nvSpPr>
        <p:spPr>
          <a:xfrm>
            <a:off x="612648" y="2871216"/>
            <a:ext cx="438912" cy="438912"/>
          </a:xfrm>
          <a:prstGeom prst="ellipse">
            <a:avLst/>
          </a:prstGeom>
          <a:solidFill>
            <a:srgbClr val="1A2C5B"/>
          </a:solidFill>
          <a:ln w="12700">
            <a:solidFill>
              <a:srgbClr val="1A2C5B"/>
            </a:solidFill>
            <a:prstDash val="solid"/>
          </a:ln>
        </p:spPr>
      </p:sp>
      <p:sp>
        <p:nvSpPr>
          <p:cNvPr id="14" name="Text 12"/>
          <p:cNvSpPr/>
          <p:nvPr/>
        </p:nvSpPr>
        <p:spPr>
          <a:xfrm>
            <a:off x="612648" y="287121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5" name="Text 13"/>
          <p:cNvSpPr/>
          <p:nvPr/>
        </p:nvSpPr>
        <p:spPr>
          <a:xfrm>
            <a:off x="1124712" y="281635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ATmega32 Pin Mapping</a:t>
            </a:r>
            <a:endParaRPr lang="en-US" sz="1300" dirty="0"/>
          </a:p>
        </p:txBody>
      </p:sp>
      <p:sp>
        <p:nvSpPr>
          <p:cNvPr id="16" name="Shape 14"/>
          <p:cNvSpPr/>
          <p:nvPr/>
        </p:nvSpPr>
        <p:spPr>
          <a:xfrm>
            <a:off x="502920" y="361188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7" name="Shape 15"/>
          <p:cNvSpPr/>
          <p:nvPr/>
        </p:nvSpPr>
        <p:spPr>
          <a:xfrm>
            <a:off x="612648" y="3739896"/>
            <a:ext cx="438912" cy="438912"/>
          </a:xfrm>
          <a:prstGeom prst="ellipse">
            <a:avLst/>
          </a:prstGeom>
          <a:solidFill>
            <a:srgbClr val="1A2C5B"/>
          </a:solidFill>
          <a:ln w="12700">
            <a:solidFill>
              <a:srgbClr val="1A2C5B"/>
            </a:solidFill>
            <a:prstDash val="solid"/>
          </a:ln>
        </p:spPr>
      </p:sp>
      <p:sp>
        <p:nvSpPr>
          <p:cNvPr id="18" name="Text 16"/>
          <p:cNvSpPr/>
          <p:nvPr/>
        </p:nvSpPr>
        <p:spPr>
          <a:xfrm>
            <a:off x="612648" y="373989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1124712" y="368503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Firmware Design &amp; Flowchart</a:t>
            </a:r>
            <a:endParaRPr lang="en-US" sz="1300" dirty="0"/>
          </a:p>
        </p:txBody>
      </p:sp>
      <p:sp>
        <p:nvSpPr>
          <p:cNvPr id="20" name="Shape 18"/>
          <p:cNvSpPr/>
          <p:nvPr/>
        </p:nvSpPr>
        <p:spPr>
          <a:xfrm>
            <a:off x="4846320" y="100584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1" name="Shape 19"/>
          <p:cNvSpPr/>
          <p:nvPr/>
        </p:nvSpPr>
        <p:spPr>
          <a:xfrm>
            <a:off x="4956048" y="1133856"/>
            <a:ext cx="438912" cy="438912"/>
          </a:xfrm>
          <a:prstGeom prst="ellipse">
            <a:avLst/>
          </a:prstGeom>
          <a:solidFill>
            <a:srgbClr val="1A2C5B"/>
          </a:solidFill>
          <a:ln w="12700">
            <a:solidFill>
              <a:srgbClr val="1A2C5B"/>
            </a:solidFill>
            <a:prstDash val="solid"/>
          </a:ln>
        </p:spPr>
      </p:sp>
      <p:sp>
        <p:nvSpPr>
          <p:cNvPr id="22" name="Text 20"/>
          <p:cNvSpPr/>
          <p:nvPr/>
        </p:nvSpPr>
        <p:spPr>
          <a:xfrm>
            <a:off x="4956048" y="113385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3" name="Text 21"/>
          <p:cNvSpPr/>
          <p:nvPr/>
        </p:nvSpPr>
        <p:spPr>
          <a:xfrm>
            <a:off x="5468112" y="107899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KiCad Schematic &amp; PCB</a:t>
            </a:r>
            <a:endParaRPr lang="en-US" sz="1300" dirty="0"/>
          </a:p>
        </p:txBody>
      </p:sp>
      <p:sp>
        <p:nvSpPr>
          <p:cNvPr id="24" name="Shape 22"/>
          <p:cNvSpPr/>
          <p:nvPr/>
        </p:nvSpPr>
        <p:spPr>
          <a:xfrm>
            <a:off x="4846320" y="187452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5" name="Shape 23"/>
          <p:cNvSpPr/>
          <p:nvPr/>
        </p:nvSpPr>
        <p:spPr>
          <a:xfrm>
            <a:off x="4956048" y="2002536"/>
            <a:ext cx="438912" cy="438912"/>
          </a:xfrm>
          <a:prstGeom prst="ellipse">
            <a:avLst/>
          </a:prstGeom>
          <a:solidFill>
            <a:srgbClr val="1A2C5B"/>
          </a:solidFill>
          <a:ln w="12700">
            <a:solidFill>
              <a:srgbClr val="1A2C5B"/>
            </a:solidFill>
            <a:prstDash val="solid"/>
          </a:ln>
        </p:spPr>
      </p:sp>
      <p:sp>
        <p:nvSpPr>
          <p:cNvPr id="26" name="Text 24"/>
          <p:cNvSpPr/>
          <p:nvPr/>
        </p:nvSpPr>
        <p:spPr>
          <a:xfrm>
            <a:off x="4956048" y="200253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7" name="Text 25"/>
          <p:cNvSpPr/>
          <p:nvPr/>
        </p:nvSpPr>
        <p:spPr>
          <a:xfrm>
            <a:off x="5468112" y="194767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SimulIDE Simulation &amp; Results</a:t>
            </a:r>
            <a:endParaRPr lang="en-US" sz="1300" dirty="0"/>
          </a:p>
        </p:txBody>
      </p:sp>
      <p:sp>
        <p:nvSpPr>
          <p:cNvPr id="28" name="Shape 26"/>
          <p:cNvSpPr/>
          <p:nvPr/>
        </p:nvSpPr>
        <p:spPr>
          <a:xfrm>
            <a:off x="4846320" y="274320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9" name="Shape 27"/>
          <p:cNvSpPr/>
          <p:nvPr/>
        </p:nvSpPr>
        <p:spPr>
          <a:xfrm>
            <a:off x="4956048" y="2871216"/>
            <a:ext cx="438912" cy="438912"/>
          </a:xfrm>
          <a:prstGeom prst="ellipse">
            <a:avLst/>
          </a:prstGeom>
          <a:solidFill>
            <a:srgbClr val="1A2C5B"/>
          </a:solidFill>
          <a:ln w="12700">
            <a:solidFill>
              <a:srgbClr val="1A2C5B"/>
            </a:solidFill>
            <a:prstDash val="solid"/>
          </a:ln>
        </p:spPr>
      </p:sp>
      <p:sp>
        <p:nvSpPr>
          <p:cNvPr id="30" name="Text 28"/>
          <p:cNvSpPr/>
          <p:nvPr/>
        </p:nvSpPr>
        <p:spPr>
          <a:xfrm>
            <a:off x="4956048" y="287121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1" name="Text 29"/>
          <p:cNvSpPr/>
          <p:nvPr/>
        </p:nvSpPr>
        <p:spPr>
          <a:xfrm>
            <a:off x="5468112" y="281635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ADC Calculations</a:t>
            </a:r>
            <a:endParaRPr lang="en-US" sz="1300" dirty="0"/>
          </a:p>
        </p:txBody>
      </p:sp>
      <p:sp>
        <p:nvSpPr>
          <p:cNvPr id="32" name="Shape 30"/>
          <p:cNvSpPr/>
          <p:nvPr/>
        </p:nvSpPr>
        <p:spPr>
          <a:xfrm>
            <a:off x="4846320" y="3611880"/>
            <a:ext cx="4069080" cy="713232"/>
          </a:xfrm>
          <a:prstGeom prst="roundRect">
            <a:avLst>
              <a:gd name="adj" fmla="val 7692"/>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33" name="Shape 31"/>
          <p:cNvSpPr/>
          <p:nvPr/>
        </p:nvSpPr>
        <p:spPr>
          <a:xfrm>
            <a:off x="4956048" y="3739896"/>
            <a:ext cx="438912" cy="438912"/>
          </a:xfrm>
          <a:prstGeom prst="ellipse">
            <a:avLst/>
          </a:prstGeom>
          <a:solidFill>
            <a:srgbClr val="1A2C5B"/>
          </a:solidFill>
          <a:ln w="12700">
            <a:solidFill>
              <a:srgbClr val="1A2C5B"/>
            </a:solidFill>
            <a:prstDash val="solid"/>
          </a:ln>
        </p:spPr>
      </p:sp>
      <p:sp>
        <p:nvSpPr>
          <p:cNvPr id="34" name="Text 32"/>
          <p:cNvSpPr/>
          <p:nvPr/>
        </p:nvSpPr>
        <p:spPr>
          <a:xfrm>
            <a:off x="4956048" y="373989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5" name="Text 33"/>
          <p:cNvSpPr/>
          <p:nvPr/>
        </p:nvSpPr>
        <p:spPr>
          <a:xfrm>
            <a:off x="5468112" y="3685032"/>
            <a:ext cx="3383280" cy="56692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GitHub Repository &amp; Conclusion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A2C5B"/>
          </a:solidFill>
          <a:ln w="12700">
            <a:solidFill>
              <a:srgbClr val="1A2C5B"/>
            </a:solidFill>
            <a:prstDash val="solid"/>
          </a:ln>
        </p:spPr>
      </p:sp>
      <p:sp>
        <p:nvSpPr>
          <p:cNvPr id="3" name="Shape 1"/>
          <p:cNvSpPr/>
          <p:nvPr/>
        </p:nvSpPr>
        <p:spPr>
          <a:xfrm>
            <a:off x="3474720" y="0"/>
            <a:ext cx="73152" cy="5143500"/>
          </a:xfrm>
          <a:prstGeom prst="rect">
            <a:avLst/>
          </a:prstGeom>
          <a:solidFill>
            <a:srgbClr val="0D7377"/>
          </a:solidFill>
          <a:ln w="12700">
            <a:solidFill>
              <a:srgbClr val="0D7377"/>
            </a:solidFill>
            <a:prstDash val="solid"/>
          </a:ln>
        </p:spPr>
      </p:sp>
      <p:sp>
        <p:nvSpPr>
          <p:cNvPr id="4" name="Text 2"/>
          <p:cNvSpPr/>
          <p:nvPr/>
        </p:nvSpPr>
        <p:spPr>
          <a:xfrm>
            <a:off x="201168" y="274320"/>
            <a:ext cx="301752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Introduction</a:t>
            </a:r>
            <a:endParaRPr lang="en-US" sz="2400" dirty="0"/>
          </a:p>
        </p:txBody>
      </p:sp>
      <p:sp>
        <p:nvSpPr>
          <p:cNvPr id="5" name="Text 3"/>
          <p:cNvSpPr/>
          <p:nvPr/>
        </p:nvSpPr>
        <p:spPr>
          <a:xfrm>
            <a:off x="201168" y="749808"/>
            <a:ext cx="3017520" cy="347472"/>
          </a:xfrm>
          <a:prstGeom prst="rect">
            <a:avLst/>
          </a:prstGeom>
          <a:noFill/>
          <a:ln/>
        </p:spPr>
        <p:txBody>
          <a:bodyPr wrap="square" rtlCol="0" anchor="ctr"/>
          <a:lstStyle/>
          <a:p>
            <a:pPr marL="0" indent="0">
              <a:buNone/>
            </a:pPr>
            <a:r>
              <a:rPr lang="en-US" sz="1400" i="1" dirty="0">
                <a:solidFill>
                  <a:srgbClr val="8FBBCF"/>
                </a:solidFill>
                <a:latin typeface="Calibri" pitchFamily="34" charset="0"/>
                <a:ea typeface="Calibri" pitchFamily="34" charset="-122"/>
                <a:cs typeface="Calibri" pitchFamily="34" charset="-120"/>
              </a:rPr>
              <a:t>&amp; Problem Statement</a:t>
            </a:r>
            <a:endParaRPr lang="en-US" sz="1400" dirty="0"/>
          </a:p>
        </p:txBody>
      </p:sp>
      <p:sp>
        <p:nvSpPr>
          <p:cNvPr id="6" name="Shape 4"/>
          <p:cNvSpPr/>
          <p:nvPr/>
        </p:nvSpPr>
        <p:spPr>
          <a:xfrm>
            <a:off x="201168" y="1463040"/>
            <a:ext cx="3017520" cy="822960"/>
          </a:xfrm>
          <a:prstGeom prst="roundRect">
            <a:avLst>
              <a:gd name="adj" fmla="val 7778"/>
            </a:avLst>
          </a:prstGeom>
          <a:solidFill>
            <a:srgbClr val="0D7377">
              <a:alpha val="20000"/>
            </a:srgbClr>
          </a:solidFill>
          <a:ln w="12700">
            <a:solidFill>
              <a:srgbClr val="0D7377">
                <a:alpha val="40000"/>
              </a:srgbClr>
            </a:solidFill>
            <a:prstDash val="solid"/>
          </a:ln>
        </p:spPr>
      </p:sp>
      <p:sp>
        <p:nvSpPr>
          <p:cNvPr id="7" name="Text 5"/>
          <p:cNvSpPr/>
          <p:nvPr/>
        </p:nvSpPr>
        <p:spPr>
          <a:xfrm>
            <a:off x="274320" y="1517904"/>
            <a:ext cx="914400"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ADC</a:t>
            </a:r>
            <a:endParaRPr lang="en-US" sz="1600" dirty="0"/>
          </a:p>
        </p:txBody>
      </p:sp>
      <p:sp>
        <p:nvSpPr>
          <p:cNvPr id="8" name="Text 6"/>
          <p:cNvSpPr/>
          <p:nvPr/>
        </p:nvSpPr>
        <p:spPr>
          <a:xfrm>
            <a:off x="274320" y="1847088"/>
            <a:ext cx="2834640" cy="347472"/>
          </a:xfrm>
          <a:prstGeom prst="rect">
            <a:avLst/>
          </a:prstGeom>
          <a:noFill/>
          <a:ln/>
        </p:spPr>
        <p:txBody>
          <a:bodyPr wrap="square" rtlCol="0" anchor="ctr"/>
          <a:lstStyle/>
          <a:p>
            <a:pPr marL="0" indent="0">
              <a:buNone/>
            </a:pPr>
            <a:r>
              <a:rPr lang="en-US" sz="1000" dirty="0">
                <a:solidFill>
                  <a:srgbClr val="C0D8E8"/>
                </a:solidFill>
                <a:latin typeface="Calibri" pitchFamily="34" charset="0"/>
                <a:ea typeface="Calibri" pitchFamily="34" charset="-122"/>
                <a:cs typeface="Calibri" pitchFamily="34" charset="-120"/>
              </a:rPr>
              <a:t>Analog-to-Digital</a:t>
            </a:r>
            <a:endParaRPr lang="en-US" sz="1000" dirty="0"/>
          </a:p>
          <a:p>
            <a:pPr marL="0" indent="0">
              <a:buNone/>
            </a:pPr>
            <a:r>
              <a:rPr lang="en-US" sz="1000" dirty="0">
                <a:solidFill>
                  <a:srgbClr val="C0D8E8"/>
                </a:solidFill>
                <a:latin typeface="Calibri" pitchFamily="34" charset="0"/>
                <a:ea typeface="Calibri" pitchFamily="34" charset="-122"/>
                <a:cs typeface="Calibri" pitchFamily="34" charset="-120"/>
              </a:rPr>
              <a:t>Converter</a:t>
            </a:r>
            <a:endParaRPr lang="en-US" sz="1000" dirty="0"/>
          </a:p>
        </p:txBody>
      </p:sp>
      <p:sp>
        <p:nvSpPr>
          <p:cNvPr id="9" name="Shape 7"/>
          <p:cNvSpPr/>
          <p:nvPr/>
        </p:nvSpPr>
        <p:spPr>
          <a:xfrm>
            <a:off x="201168" y="2560320"/>
            <a:ext cx="3017520" cy="822960"/>
          </a:xfrm>
          <a:prstGeom prst="roundRect">
            <a:avLst>
              <a:gd name="adj" fmla="val 7778"/>
            </a:avLst>
          </a:prstGeom>
          <a:solidFill>
            <a:srgbClr val="0D7377">
              <a:alpha val="20000"/>
            </a:srgbClr>
          </a:solidFill>
          <a:ln w="12700">
            <a:solidFill>
              <a:srgbClr val="0D7377">
                <a:alpha val="40000"/>
              </a:srgbClr>
            </a:solidFill>
            <a:prstDash val="solid"/>
          </a:ln>
        </p:spPr>
      </p:sp>
      <p:sp>
        <p:nvSpPr>
          <p:cNvPr id="10" name="Text 8"/>
          <p:cNvSpPr/>
          <p:nvPr/>
        </p:nvSpPr>
        <p:spPr>
          <a:xfrm>
            <a:off x="274320" y="2615184"/>
            <a:ext cx="914400"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LM35</a:t>
            </a:r>
            <a:endParaRPr lang="en-US" sz="1600" dirty="0"/>
          </a:p>
        </p:txBody>
      </p:sp>
      <p:sp>
        <p:nvSpPr>
          <p:cNvPr id="11" name="Text 9"/>
          <p:cNvSpPr/>
          <p:nvPr/>
        </p:nvSpPr>
        <p:spPr>
          <a:xfrm>
            <a:off x="274320" y="2944368"/>
            <a:ext cx="2834640" cy="347472"/>
          </a:xfrm>
          <a:prstGeom prst="rect">
            <a:avLst/>
          </a:prstGeom>
          <a:noFill/>
          <a:ln/>
        </p:spPr>
        <p:txBody>
          <a:bodyPr wrap="square" rtlCol="0" anchor="ctr"/>
          <a:lstStyle/>
          <a:p>
            <a:pPr marL="0" indent="0">
              <a:buNone/>
            </a:pPr>
            <a:r>
              <a:rPr lang="en-US" sz="1000" dirty="0">
                <a:solidFill>
                  <a:srgbClr val="C0D8E8"/>
                </a:solidFill>
                <a:latin typeface="Calibri" pitchFamily="34" charset="0"/>
                <a:ea typeface="Calibri" pitchFamily="34" charset="-122"/>
                <a:cs typeface="Calibri" pitchFamily="34" charset="-120"/>
              </a:rPr>
              <a:t>Precision Temp</a:t>
            </a:r>
            <a:endParaRPr lang="en-US" sz="1000" dirty="0"/>
          </a:p>
          <a:p>
            <a:pPr marL="0" indent="0">
              <a:buNone/>
            </a:pPr>
            <a:r>
              <a:rPr lang="en-US" sz="1000" dirty="0">
                <a:solidFill>
                  <a:srgbClr val="C0D8E8"/>
                </a:solidFill>
                <a:latin typeface="Calibri" pitchFamily="34" charset="0"/>
                <a:ea typeface="Calibri" pitchFamily="34" charset="-122"/>
                <a:cs typeface="Calibri" pitchFamily="34" charset="-120"/>
              </a:rPr>
              <a:t>Sensor</a:t>
            </a:r>
            <a:endParaRPr lang="en-US" sz="1000" dirty="0"/>
          </a:p>
        </p:txBody>
      </p:sp>
      <p:sp>
        <p:nvSpPr>
          <p:cNvPr id="12" name="Shape 10"/>
          <p:cNvSpPr/>
          <p:nvPr/>
        </p:nvSpPr>
        <p:spPr>
          <a:xfrm>
            <a:off x="201168" y="3657600"/>
            <a:ext cx="3017520" cy="822960"/>
          </a:xfrm>
          <a:prstGeom prst="roundRect">
            <a:avLst>
              <a:gd name="adj" fmla="val 7778"/>
            </a:avLst>
          </a:prstGeom>
          <a:solidFill>
            <a:srgbClr val="0D7377">
              <a:alpha val="20000"/>
            </a:srgbClr>
          </a:solidFill>
          <a:ln w="12700">
            <a:solidFill>
              <a:srgbClr val="0D7377">
                <a:alpha val="40000"/>
              </a:srgbClr>
            </a:solidFill>
            <a:prstDash val="solid"/>
          </a:ln>
        </p:spPr>
      </p:sp>
      <p:sp>
        <p:nvSpPr>
          <p:cNvPr id="13" name="Text 11"/>
          <p:cNvSpPr/>
          <p:nvPr/>
        </p:nvSpPr>
        <p:spPr>
          <a:xfrm>
            <a:off x="274320" y="3712464"/>
            <a:ext cx="914400"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AVR</a:t>
            </a:r>
            <a:endParaRPr lang="en-US" sz="1600" dirty="0"/>
          </a:p>
        </p:txBody>
      </p:sp>
      <p:sp>
        <p:nvSpPr>
          <p:cNvPr id="14" name="Text 12"/>
          <p:cNvSpPr/>
          <p:nvPr/>
        </p:nvSpPr>
        <p:spPr>
          <a:xfrm>
            <a:off x="274320" y="4041648"/>
            <a:ext cx="2834640" cy="347472"/>
          </a:xfrm>
          <a:prstGeom prst="rect">
            <a:avLst/>
          </a:prstGeom>
          <a:noFill/>
          <a:ln/>
        </p:spPr>
        <p:txBody>
          <a:bodyPr wrap="square" rtlCol="0" anchor="ctr"/>
          <a:lstStyle/>
          <a:p>
            <a:pPr marL="0" indent="0">
              <a:buNone/>
            </a:pPr>
            <a:r>
              <a:rPr lang="en-US" sz="1000" dirty="0">
                <a:solidFill>
                  <a:srgbClr val="C0D8E8"/>
                </a:solidFill>
                <a:latin typeface="Calibri" pitchFamily="34" charset="0"/>
                <a:ea typeface="Calibri" pitchFamily="34" charset="-122"/>
                <a:cs typeface="Calibri" pitchFamily="34" charset="-120"/>
              </a:rPr>
              <a:t>ATmega32</a:t>
            </a:r>
            <a:endParaRPr lang="en-US" sz="1000" dirty="0"/>
          </a:p>
          <a:p>
            <a:pPr marL="0" indent="0">
              <a:buNone/>
            </a:pPr>
            <a:r>
              <a:rPr lang="en-US" sz="1000" dirty="0">
                <a:solidFill>
                  <a:srgbClr val="C0D8E8"/>
                </a:solidFill>
                <a:latin typeface="Calibri" pitchFamily="34" charset="0"/>
                <a:ea typeface="Calibri" pitchFamily="34" charset="-122"/>
                <a:cs typeface="Calibri" pitchFamily="34" charset="-120"/>
              </a:rPr>
              <a:t>8-bit MCU</a:t>
            </a:r>
            <a:endParaRPr lang="en-US" sz="1000" dirty="0"/>
          </a:p>
        </p:txBody>
      </p:sp>
      <p:sp>
        <p:nvSpPr>
          <p:cNvPr id="15" name="Text 13"/>
          <p:cNvSpPr/>
          <p:nvPr/>
        </p:nvSpPr>
        <p:spPr>
          <a:xfrm>
            <a:off x="3749040" y="256032"/>
            <a:ext cx="5120640" cy="347472"/>
          </a:xfrm>
          <a:prstGeom prst="rect">
            <a:avLst/>
          </a:prstGeom>
          <a:noFill/>
          <a:ln/>
        </p:spPr>
        <p:txBody>
          <a:bodyPr wrap="square" rtlCol="0" anchor="ctr"/>
          <a:lstStyle/>
          <a:p>
            <a:pPr marL="0" indent="0">
              <a:buNone/>
            </a:pPr>
            <a:r>
              <a:rPr lang="en-US" sz="1600" b="1" dirty="0">
                <a:solidFill>
                  <a:srgbClr val="0D7377"/>
                </a:solidFill>
                <a:latin typeface="Cambria" pitchFamily="34" charset="0"/>
                <a:ea typeface="Cambria" pitchFamily="34" charset="-122"/>
                <a:cs typeface="Cambria" pitchFamily="34" charset="-120"/>
              </a:rPr>
              <a:t>Background</a:t>
            </a:r>
            <a:endParaRPr lang="en-US" sz="1600" dirty="0"/>
          </a:p>
        </p:txBody>
      </p:sp>
      <p:sp>
        <p:nvSpPr>
          <p:cNvPr id="16" name="Text 14"/>
          <p:cNvSpPr/>
          <p:nvPr/>
        </p:nvSpPr>
        <p:spPr>
          <a:xfrm>
            <a:off x="3749040" y="640080"/>
            <a:ext cx="5120640" cy="114300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Real-world signals (temperature, pressure, sound) are analog. The ATmega32 is a purely digital device — it cannot process these signals directly.</a:t>
            </a:r>
            <a:endParaRPr lang="en-US" sz="1250" dirty="0"/>
          </a:p>
          <a:p>
            <a:pPr marL="0" indent="0">
              <a:buNone/>
            </a:pP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An ADC is required to bridge the gap, converting a continuously varying analog voltage into discrete digital values the microcontroller can act upon.</a:t>
            </a:r>
            <a:endParaRPr lang="en-US" sz="1250" dirty="0"/>
          </a:p>
        </p:txBody>
      </p:sp>
      <p:sp>
        <p:nvSpPr>
          <p:cNvPr id="17" name="Shape 15"/>
          <p:cNvSpPr/>
          <p:nvPr/>
        </p:nvSpPr>
        <p:spPr>
          <a:xfrm>
            <a:off x="3749040" y="1920240"/>
            <a:ext cx="5120640" cy="27432"/>
          </a:xfrm>
          <a:prstGeom prst="rect">
            <a:avLst/>
          </a:prstGeom>
          <a:solidFill>
            <a:srgbClr val="D6E8F0"/>
          </a:solidFill>
          <a:ln w="12700">
            <a:solidFill>
              <a:srgbClr val="D6E8F0"/>
            </a:solidFill>
            <a:prstDash val="solid"/>
          </a:ln>
        </p:spPr>
      </p:sp>
      <p:sp>
        <p:nvSpPr>
          <p:cNvPr id="18" name="Text 16"/>
          <p:cNvSpPr/>
          <p:nvPr/>
        </p:nvSpPr>
        <p:spPr>
          <a:xfrm>
            <a:off x="3749040" y="2029968"/>
            <a:ext cx="5120640" cy="347472"/>
          </a:xfrm>
          <a:prstGeom prst="rect">
            <a:avLst/>
          </a:prstGeom>
          <a:noFill/>
          <a:ln/>
        </p:spPr>
        <p:txBody>
          <a:bodyPr wrap="square" rtlCol="0" anchor="ctr"/>
          <a:lstStyle/>
          <a:p>
            <a:pPr marL="0" indent="0">
              <a:buNone/>
            </a:pPr>
            <a:r>
              <a:rPr lang="en-US" sz="1600" b="1" dirty="0">
                <a:solidFill>
                  <a:srgbClr val="0D7377"/>
                </a:solidFill>
                <a:latin typeface="Cambria" pitchFamily="34" charset="0"/>
                <a:ea typeface="Cambria" pitchFamily="34" charset="-122"/>
                <a:cs typeface="Cambria" pitchFamily="34" charset="-120"/>
              </a:rPr>
              <a:t>Problem Statement</a:t>
            </a:r>
            <a:endParaRPr lang="en-US" sz="1600" dirty="0"/>
          </a:p>
        </p:txBody>
      </p:sp>
      <p:sp>
        <p:nvSpPr>
          <p:cNvPr id="19" name="Text 17"/>
          <p:cNvSpPr/>
          <p:nvPr/>
        </p:nvSpPr>
        <p:spPr>
          <a:xfrm>
            <a:off x="3749040" y="2423160"/>
            <a:ext cx="5120640" cy="182880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Industries — agriculture, healthcare, data centers, manufacturing — need continuous temperature monitoring. This project implements a standalone MCU-based system that:</a:t>
            </a:r>
            <a:endParaRPr lang="en-US" sz="1250" dirty="0"/>
          </a:p>
          <a:p>
            <a:pPr marL="0" indent="0">
              <a:buNone/>
            </a:pP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Reads temperature from an analog sensor</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Classifies readings into Low / Normal / High</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Provides visual LED and audio buzzer alerts</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Optionally logs data via USART serial output</a:t>
            </a:r>
            <a:endParaRPr lang="en-US" sz="1250" dirty="0"/>
          </a:p>
        </p:txBody>
      </p:sp>
      <p:sp>
        <p:nvSpPr>
          <p:cNvPr id="20" name="Text 18"/>
          <p:cNvSpPr/>
          <p:nvPr/>
        </p:nvSpPr>
        <p:spPr>
          <a:xfrm>
            <a:off x="3749040" y="4434840"/>
            <a:ext cx="5120640" cy="411480"/>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Since physical hardware is unavailable, demonstration is done via SimulIDE simulation.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Project Objectives</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502920" y="91440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5" name="Shape 3"/>
          <p:cNvSpPr/>
          <p:nvPr/>
        </p:nvSpPr>
        <p:spPr>
          <a:xfrm>
            <a:off x="594360" y="1069848"/>
            <a:ext cx="475488" cy="475488"/>
          </a:xfrm>
          <a:prstGeom prst="ellipse">
            <a:avLst/>
          </a:prstGeom>
          <a:solidFill>
            <a:srgbClr val="1A2C5B"/>
          </a:solidFill>
          <a:ln w="12700">
            <a:solidFill>
              <a:srgbClr val="1A2C5B"/>
            </a:solidFill>
            <a:prstDash val="solid"/>
          </a:ln>
        </p:spPr>
      </p:sp>
      <p:sp>
        <p:nvSpPr>
          <p:cNvPr id="6" name="Text 4"/>
          <p:cNvSpPr/>
          <p:nvPr/>
        </p:nvSpPr>
        <p:spPr>
          <a:xfrm>
            <a:off x="594360" y="106984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161288" y="96926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Configure ATmega32 ADC</a:t>
            </a:r>
            <a:endParaRPr lang="en-US" sz="1250" dirty="0"/>
          </a:p>
        </p:txBody>
      </p:sp>
      <p:sp>
        <p:nvSpPr>
          <p:cNvPr id="8" name="Text 6"/>
          <p:cNvSpPr/>
          <p:nvPr/>
        </p:nvSpPr>
        <p:spPr>
          <a:xfrm>
            <a:off x="1161288" y="126187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Set up 10-bit ADC on channel ADC0 (PA0) using ADMUX &amp; ADCSRA registers</a:t>
            </a:r>
            <a:endParaRPr lang="en-US" sz="1050" dirty="0"/>
          </a:p>
        </p:txBody>
      </p:sp>
      <p:sp>
        <p:nvSpPr>
          <p:cNvPr id="9" name="Shape 7"/>
          <p:cNvSpPr/>
          <p:nvPr/>
        </p:nvSpPr>
        <p:spPr>
          <a:xfrm>
            <a:off x="502920" y="187452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0" name="Shape 8"/>
          <p:cNvSpPr/>
          <p:nvPr/>
        </p:nvSpPr>
        <p:spPr>
          <a:xfrm>
            <a:off x="594360" y="2029968"/>
            <a:ext cx="475488" cy="475488"/>
          </a:xfrm>
          <a:prstGeom prst="ellipse">
            <a:avLst/>
          </a:prstGeom>
          <a:solidFill>
            <a:srgbClr val="1A2C5B"/>
          </a:solidFill>
          <a:ln w="12700">
            <a:solidFill>
              <a:srgbClr val="1A2C5B"/>
            </a:solidFill>
            <a:prstDash val="solid"/>
          </a:ln>
        </p:spPr>
      </p:sp>
      <p:sp>
        <p:nvSpPr>
          <p:cNvPr id="11" name="Text 9"/>
          <p:cNvSpPr/>
          <p:nvPr/>
        </p:nvSpPr>
        <p:spPr>
          <a:xfrm>
            <a:off x="594360" y="202996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161288" y="192938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Interface LM35 Sensor</a:t>
            </a:r>
            <a:endParaRPr lang="en-US" sz="1250" dirty="0"/>
          </a:p>
        </p:txBody>
      </p:sp>
      <p:sp>
        <p:nvSpPr>
          <p:cNvPr id="13" name="Text 11"/>
          <p:cNvSpPr/>
          <p:nvPr/>
        </p:nvSpPr>
        <p:spPr>
          <a:xfrm>
            <a:off x="1161288" y="222199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Connect precision analog temp sensor outputting 10 mV per °C</a:t>
            </a:r>
            <a:endParaRPr lang="en-US" sz="1050" dirty="0"/>
          </a:p>
        </p:txBody>
      </p:sp>
      <p:sp>
        <p:nvSpPr>
          <p:cNvPr id="14" name="Shape 12"/>
          <p:cNvSpPr/>
          <p:nvPr/>
        </p:nvSpPr>
        <p:spPr>
          <a:xfrm>
            <a:off x="502920" y="283464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5" name="Shape 13"/>
          <p:cNvSpPr/>
          <p:nvPr/>
        </p:nvSpPr>
        <p:spPr>
          <a:xfrm>
            <a:off x="594360" y="2990088"/>
            <a:ext cx="475488" cy="475488"/>
          </a:xfrm>
          <a:prstGeom prst="ellipse">
            <a:avLst/>
          </a:prstGeom>
          <a:solidFill>
            <a:srgbClr val="1A2C5B"/>
          </a:solidFill>
          <a:ln w="12700">
            <a:solidFill>
              <a:srgbClr val="1A2C5B"/>
            </a:solidFill>
            <a:prstDash val="solid"/>
          </a:ln>
        </p:spPr>
      </p:sp>
      <p:sp>
        <p:nvSpPr>
          <p:cNvPr id="16" name="Text 14"/>
          <p:cNvSpPr/>
          <p:nvPr/>
        </p:nvSpPr>
        <p:spPr>
          <a:xfrm>
            <a:off x="594360" y="299008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161288" y="288950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ADC → Temperature</a:t>
            </a:r>
            <a:endParaRPr lang="en-US" sz="1250" dirty="0"/>
          </a:p>
        </p:txBody>
      </p:sp>
      <p:sp>
        <p:nvSpPr>
          <p:cNvPr id="18" name="Text 16"/>
          <p:cNvSpPr/>
          <p:nvPr/>
        </p:nvSpPr>
        <p:spPr>
          <a:xfrm>
            <a:off x="1161288" y="318211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Convert digital ADC counts to °C using integer arithmetic formula</a:t>
            </a:r>
            <a:endParaRPr lang="en-US" sz="1050" dirty="0"/>
          </a:p>
        </p:txBody>
      </p:sp>
      <p:sp>
        <p:nvSpPr>
          <p:cNvPr id="19" name="Shape 17"/>
          <p:cNvSpPr/>
          <p:nvPr/>
        </p:nvSpPr>
        <p:spPr>
          <a:xfrm>
            <a:off x="502920" y="379476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0" name="Shape 18"/>
          <p:cNvSpPr/>
          <p:nvPr/>
        </p:nvSpPr>
        <p:spPr>
          <a:xfrm>
            <a:off x="594360" y="3950208"/>
            <a:ext cx="475488" cy="475488"/>
          </a:xfrm>
          <a:prstGeom prst="ellipse">
            <a:avLst/>
          </a:prstGeom>
          <a:solidFill>
            <a:srgbClr val="1A2C5B"/>
          </a:solidFill>
          <a:ln w="12700">
            <a:solidFill>
              <a:srgbClr val="1A2C5B"/>
            </a:solidFill>
            <a:prstDash val="solid"/>
          </a:ln>
        </p:spPr>
      </p:sp>
      <p:sp>
        <p:nvSpPr>
          <p:cNvPr id="21" name="Text 19"/>
          <p:cNvSpPr/>
          <p:nvPr/>
        </p:nvSpPr>
        <p:spPr>
          <a:xfrm>
            <a:off x="594360" y="395020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161288" y="384962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3-State Classification</a:t>
            </a:r>
            <a:endParaRPr lang="en-US" sz="1250" dirty="0"/>
          </a:p>
        </p:txBody>
      </p:sp>
      <p:sp>
        <p:nvSpPr>
          <p:cNvPr id="23" name="Text 21"/>
          <p:cNvSpPr/>
          <p:nvPr/>
        </p:nvSpPr>
        <p:spPr>
          <a:xfrm>
            <a:off x="1161288" y="414223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Classify into Low (&lt;25°C), Normal (25–35°C), and High (&gt;35°C)</a:t>
            </a:r>
            <a:endParaRPr lang="en-US" sz="1050" dirty="0"/>
          </a:p>
        </p:txBody>
      </p:sp>
      <p:sp>
        <p:nvSpPr>
          <p:cNvPr id="24" name="Shape 22"/>
          <p:cNvSpPr/>
          <p:nvPr/>
        </p:nvSpPr>
        <p:spPr>
          <a:xfrm>
            <a:off x="4846320" y="91440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5" name="Shape 23"/>
          <p:cNvSpPr/>
          <p:nvPr/>
        </p:nvSpPr>
        <p:spPr>
          <a:xfrm>
            <a:off x="4937760" y="1069848"/>
            <a:ext cx="475488" cy="475488"/>
          </a:xfrm>
          <a:prstGeom prst="ellipse">
            <a:avLst/>
          </a:prstGeom>
          <a:solidFill>
            <a:srgbClr val="0D7377"/>
          </a:solidFill>
          <a:ln w="12700">
            <a:solidFill>
              <a:srgbClr val="0D7377"/>
            </a:solidFill>
            <a:prstDash val="solid"/>
          </a:ln>
        </p:spPr>
      </p:sp>
      <p:sp>
        <p:nvSpPr>
          <p:cNvPr id="26" name="Text 24"/>
          <p:cNvSpPr/>
          <p:nvPr/>
        </p:nvSpPr>
        <p:spPr>
          <a:xfrm>
            <a:off x="4937760" y="106984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5504688" y="96926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LED &amp; Buzzer Outputs</a:t>
            </a:r>
            <a:endParaRPr lang="en-US" sz="1250" dirty="0"/>
          </a:p>
        </p:txBody>
      </p:sp>
      <p:sp>
        <p:nvSpPr>
          <p:cNvPr id="28" name="Text 26"/>
          <p:cNvSpPr/>
          <p:nvPr/>
        </p:nvSpPr>
        <p:spPr>
          <a:xfrm>
            <a:off x="5504688" y="126187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Drive Green, Yellow, Red LEDs and buzzer based on temperature zone</a:t>
            </a:r>
            <a:endParaRPr lang="en-US" sz="1050" dirty="0"/>
          </a:p>
        </p:txBody>
      </p:sp>
      <p:sp>
        <p:nvSpPr>
          <p:cNvPr id="29" name="Shape 27"/>
          <p:cNvSpPr/>
          <p:nvPr/>
        </p:nvSpPr>
        <p:spPr>
          <a:xfrm>
            <a:off x="4846320" y="187452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30" name="Shape 28"/>
          <p:cNvSpPr/>
          <p:nvPr/>
        </p:nvSpPr>
        <p:spPr>
          <a:xfrm>
            <a:off x="4937760" y="2029968"/>
            <a:ext cx="475488" cy="475488"/>
          </a:xfrm>
          <a:prstGeom prst="ellipse">
            <a:avLst/>
          </a:prstGeom>
          <a:solidFill>
            <a:srgbClr val="0D7377"/>
          </a:solidFill>
          <a:ln w="12700">
            <a:solidFill>
              <a:srgbClr val="0D7377"/>
            </a:solidFill>
            <a:prstDash val="solid"/>
          </a:ln>
        </p:spPr>
      </p:sp>
      <p:sp>
        <p:nvSpPr>
          <p:cNvPr id="31" name="Text 29"/>
          <p:cNvSpPr/>
          <p:nvPr/>
        </p:nvSpPr>
        <p:spPr>
          <a:xfrm>
            <a:off x="4937760" y="202996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5504688" y="192938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USART Data Logging</a:t>
            </a:r>
            <a:endParaRPr lang="en-US" sz="1250" dirty="0"/>
          </a:p>
        </p:txBody>
      </p:sp>
      <p:sp>
        <p:nvSpPr>
          <p:cNvPr id="33" name="Text 31"/>
          <p:cNvSpPr/>
          <p:nvPr/>
        </p:nvSpPr>
        <p:spPr>
          <a:xfrm>
            <a:off x="5504688" y="222199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Transmit formatted temperature strings to PC terminal at 9600 bps</a:t>
            </a:r>
            <a:endParaRPr lang="en-US" sz="1050" dirty="0"/>
          </a:p>
        </p:txBody>
      </p:sp>
      <p:sp>
        <p:nvSpPr>
          <p:cNvPr id="34" name="Shape 32"/>
          <p:cNvSpPr/>
          <p:nvPr/>
        </p:nvSpPr>
        <p:spPr>
          <a:xfrm>
            <a:off x="4846320" y="283464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35" name="Shape 33"/>
          <p:cNvSpPr/>
          <p:nvPr/>
        </p:nvSpPr>
        <p:spPr>
          <a:xfrm>
            <a:off x="4937760" y="2990088"/>
            <a:ext cx="475488" cy="475488"/>
          </a:xfrm>
          <a:prstGeom prst="ellipse">
            <a:avLst/>
          </a:prstGeom>
          <a:solidFill>
            <a:srgbClr val="0D7377"/>
          </a:solidFill>
          <a:ln w="12700">
            <a:solidFill>
              <a:srgbClr val="0D7377"/>
            </a:solidFill>
            <a:prstDash val="solid"/>
          </a:ln>
        </p:spPr>
      </p:sp>
      <p:sp>
        <p:nvSpPr>
          <p:cNvPr id="36" name="Text 34"/>
          <p:cNvSpPr/>
          <p:nvPr/>
        </p:nvSpPr>
        <p:spPr>
          <a:xfrm>
            <a:off x="4937760" y="299008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7" name="Text 35"/>
          <p:cNvSpPr/>
          <p:nvPr/>
        </p:nvSpPr>
        <p:spPr>
          <a:xfrm>
            <a:off x="5504688" y="288950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KiCad Design</a:t>
            </a:r>
            <a:endParaRPr lang="en-US" sz="1250" dirty="0"/>
          </a:p>
        </p:txBody>
      </p:sp>
      <p:sp>
        <p:nvSpPr>
          <p:cNvPr id="38" name="Text 36"/>
          <p:cNvSpPr/>
          <p:nvPr/>
        </p:nvSpPr>
        <p:spPr>
          <a:xfrm>
            <a:off x="5504688" y="318211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Design full schematic and PCB layout with ERC/DRC passing</a:t>
            </a:r>
            <a:endParaRPr lang="en-US" sz="1050" dirty="0"/>
          </a:p>
        </p:txBody>
      </p:sp>
      <p:sp>
        <p:nvSpPr>
          <p:cNvPr id="39" name="Shape 37"/>
          <p:cNvSpPr/>
          <p:nvPr/>
        </p:nvSpPr>
        <p:spPr>
          <a:xfrm>
            <a:off x="4846320" y="3794760"/>
            <a:ext cx="4069080" cy="777240"/>
          </a:xfrm>
          <a:prstGeom prst="roundRect">
            <a:avLst>
              <a:gd name="adj" fmla="val 823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40" name="Shape 38"/>
          <p:cNvSpPr/>
          <p:nvPr/>
        </p:nvSpPr>
        <p:spPr>
          <a:xfrm>
            <a:off x="4937760" y="3950208"/>
            <a:ext cx="475488" cy="475488"/>
          </a:xfrm>
          <a:prstGeom prst="ellipse">
            <a:avLst/>
          </a:prstGeom>
          <a:solidFill>
            <a:srgbClr val="0D7377"/>
          </a:solidFill>
          <a:ln w="12700">
            <a:solidFill>
              <a:srgbClr val="0D7377"/>
            </a:solidFill>
            <a:prstDash val="solid"/>
          </a:ln>
        </p:spPr>
      </p:sp>
      <p:sp>
        <p:nvSpPr>
          <p:cNvPr id="41" name="Text 39"/>
          <p:cNvSpPr/>
          <p:nvPr/>
        </p:nvSpPr>
        <p:spPr>
          <a:xfrm>
            <a:off x="4937760" y="3950208"/>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40"/>
          <p:cNvSpPr/>
          <p:nvPr/>
        </p:nvSpPr>
        <p:spPr>
          <a:xfrm>
            <a:off x="5504688" y="3849624"/>
            <a:ext cx="329184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SimulIDE Simulation</a:t>
            </a:r>
            <a:endParaRPr lang="en-US" sz="1250" dirty="0"/>
          </a:p>
        </p:txBody>
      </p:sp>
      <p:sp>
        <p:nvSpPr>
          <p:cNvPr id="43" name="Text 41"/>
          <p:cNvSpPr/>
          <p:nvPr/>
        </p:nvSpPr>
        <p:spPr>
          <a:xfrm>
            <a:off x="5504688" y="4142232"/>
            <a:ext cx="3291840" cy="329184"/>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Build and validate all conditions without physical hardware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System Block Diagram</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1783080" y="2354580"/>
            <a:ext cx="502920" cy="0"/>
          </a:xfrm>
          <a:prstGeom prst="line">
            <a:avLst/>
          </a:prstGeom>
          <a:noFill/>
          <a:ln w="31750">
            <a:solidFill>
              <a:srgbClr val="0D7377"/>
            </a:solidFill>
            <a:prstDash val="solid"/>
          </a:ln>
        </p:spPr>
      </p:sp>
      <p:sp>
        <p:nvSpPr>
          <p:cNvPr id="5" name="Shape 3"/>
          <p:cNvSpPr/>
          <p:nvPr/>
        </p:nvSpPr>
        <p:spPr>
          <a:xfrm>
            <a:off x="2167128" y="2281428"/>
            <a:ext cx="146304" cy="146304"/>
          </a:xfrm>
          <a:prstGeom prst="roundRect">
            <a:avLst>
              <a:gd name="adj" fmla="val 12500"/>
            </a:avLst>
          </a:prstGeom>
          <a:solidFill>
            <a:srgbClr val="0D7377"/>
          </a:solidFill>
          <a:ln w="12700">
            <a:solidFill>
              <a:srgbClr val="0D7377"/>
            </a:solidFill>
            <a:prstDash val="solid"/>
          </a:ln>
        </p:spPr>
      </p:sp>
      <p:sp>
        <p:nvSpPr>
          <p:cNvPr id="6" name="Shape 4"/>
          <p:cNvSpPr/>
          <p:nvPr/>
        </p:nvSpPr>
        <p:spPr>
          <a:xfrm>
            <a:off x="3886200" y="2354580"/>
            <a:ext cx="502920" cy="0"/>
          </a:xfrm>
          <a:prstGeom prst="line">
            <a:avLst/>
          </a:prstGeom>
          <a:noFill/>
          <a:ln w="31750">
            <a:solidFill>
              <a:srgbClr val="0D7377"/>
            </a:solidFill>
            <a:prstDash val="solid"/>
          </a:ln>
        </p:spPr>
      </p:sp>
      <p:sp>
        <p:nvSpPr>
          <p:cNvPr id="7" name="Shape 5"/>
          <p:cNvSpPr/>
          <p:nvPr/>
        </p:nvSpPr>
        <p:spPr>
          <a:xfrm>
            <a:off x="4270248" y="2281428"/>
            <a:ext cx="146304" cy="146304"/>
          </a:xfrm>
          <a:prstGeom prst="roundRect">
            <a:avLst>
              <a:gd name="adj" fmla="val 12500"/>
            </a:avLst>
          </a:prstGeom>
          <a:solidFill>
            <a:srgbClr val="0D7377"/>
          </a:solidFill>
          <a:ln w="12700">
            <a:solidFill>
              <a:srgbClr val="0D7377"/>
            </a:solidFill>
            <a:prstDash val="solid"/>
          </a:ln>
        </p:spPr>
      </p:sp>
      <p:sp>
        <p:nvSpPr>
          <p:cNvPr id="8" name="Shape 6"/>
          <p:cNvSpPr/>
          <p:nvPr/>
        </p:nvSpPr>
        <p:spPr>
          <a:xfrm>
            <a:off x="411480" y="2011680"/>
            <a:ext cx="1371600" cy="685800"/>
          </a:xfrm>
          <a:prstGeom prst="roundRect">
            <a:avLst>
              <a:gd name="adj" fmla="val 13333"/>
            </a:avLst>
          </a:prstGeom>
          <a:solidFill>
            <a:srgbClr val="0D7377"/>
          </a:solidFill>
          <a:ln w="12700">
            <a:solidFill>
              <a:srgbClr val="0D7377"/>
            </a:solidFill>
            <a:prstDash val="solid"/>
          </a:ln>
          <a:effectLst>
            <a:outerShdw blurRad="101600" dist="38100" dir="2700000" algn="bl" rotWithShape="0">
              <a:srgbClr val="000000">
                <a:alpha val="12000"/>
              </a:srgbClr>
            </a:outerShdw>
          </a:effectLst>
        </p:spPr>
      </p:sp>
      <p:sp>
        <p:nvSpPr>
          <p:cNvPr id="9" name="Text 7"/>
          <p:cNvSpPr/>
          <p:nvPr/>
        </p:nvSpPr>
        <p:spPr>
          <a:xfrm>
            <a:off x="411480" y="2039112"/>
            <a:ext cx="13716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LM35</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Sensor</a:t>
            </a:r>
            <a:endParaRPr lang="en-US" sz="1100" dirty="0"/>
          </a:p>
        </p:txBody>
      </p:sp>
      <p:sp>
        <p:nvSpPr>
          <p:cNvPr id="10" name="Text 8"/>
          <p:cNvSpPr/>
          <p:nvPr/>
        </p:nvSpPr>
        <p:spPr>
          <a:xfrm>
            <a:off x="411480" y="2450592"/>
            <a:ext cx="1371600" cy="219456"/>
          </a:xfrm>
          <a:prstGeom prst="rect">
            <a:avLst/>
          </a:prstGeom>
          <a:noFill/>
          <a:ln/>
        </p:spPr>
        <p:txBody>
          <a:bodyPr wrap="square" lIns="0" tIns="0" rIns="0" bIns="0" rtlCol="0" anchor="ctr"/>
          <a:lstStyle/>
          <a:p>
            <a:pPr marL="0" indent="0" algn="ctr">
              <a:buNone/>
            </a:pPr>
            <a:r>
              <a:rPr lang="en-US" sz="850" dirty="0">
                <a:solidFill>
                  <a:srgbClr val="D0F0F0"/>
                </a:solidFill>
                <a:latin typeface="Calibri" pitchFamily="34" charset="0"/>
                <a:ea typeface="Calibri" pitchFamily="34" charset="-122"/>
                <a:cs typeface="Calibri" pitchFamily="34" charset="-120"/>
              </a:rPr>
              <a:t>Analog Input</a:t>
            </a:r>
            <a:endParaRPr lang="en-US" sz="850" dirty="0"/>
          </a:p>
        </p:txBody>
      </p:sp>
      <p:sp>
        <p:nvSpPr>
          <p:cNvPr id="11" name="Shape 9"/>
          <p:cNvSpPr/>
          <p:nvPr/>
        </p:nvSpPr>
        <p:spPr>
          <a:xfrm>
            <a:off x="2331720" y="2011680"/>
            <a:ext cx="1554480" cy="685800"/>
          </a:xfrm>
          <a:prstGeom prst="roundRect">
            <a:avLst>
              <a:gd name="adj" fmla="val 13333"/>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12" name="Text 10"/>
          <p:cNvSpPr/>
          <p:nvPr/>
        </p:nvSpPr>
        <p:spPr>
          <a:xfrm>
            <a:off x="2331720" y="2039112"/>
            <a:ext cx="1554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ATmega32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ADC (PA0)</a:t>
            </a:r>
            <a:endParaRPr lang="en-US" sz="1100" dirty="0"/>
          </a:p>
        </p:txBody>
      </p:sp>
      <p:sp>
        <p:nvSpPr>
          <p:cNvPr id="13" name="Text 11"/>
          <p:cNvSpPr/>
          <p:nvPr/>
        </p:nvSpPr>
        <p:spPr>
          <a:xfrm>
            <a:off x="2331720" y="2450592"/>
            <a:ext cx="1554480" cy="219456"/>
          </a:xfrm>
          <a:prstGeom prst="rect">
            <a:avLst/>
          </a:prstGeom>
          <a:noFill/>
          <a:ln/>
        </p:spPr>
        <p:txBody>
          <a:bodyPr wrap="square" lIns="0" tIns="0" rIns="0" bIns="0" rtlCol="0" anchor="ctr"/>
          <a:lstStyle/>
          <a:p>
            <a:pPr marL="0" indent="0" algn="ctr">
              <a:buNone/>
            </a:pPr>
            <a:r>
              <a:rPr lang="en-US" sz="850" dirty="0">
                <a:solidFill>
                  <a:srgbClr val="A8C8DC"/>
                </a:solidFill>
                <a:latin typeface="Calibri" pitchFamily="34" charset="0"/>
                <a:ea typeface="Calibri" pitchFamily="34" charset="-122"/>
                <a:cs typeface="Calibri" pitchFamily="34" charset="-120"/>
              </a:rPr>
              <a:t>10-bit Digitizer</a:t>
            </a:r>
            <a:endParaRPr lang="en-US" sz="850" dirty="0"/>
          </a:p>
        </p:txBody>
      </p:sp>
      <p:sp>
        <p:nvSpPr>
          <p:cNvPr id="14" name="Shape 12"/>
          <p:cNvSpPr/>
          <p:nvPr/>
        </p:nvSpPr>
        <p:spPr>
          <a:xfrm>
            <a:off x="4434840" y="2011680"/>
            <a:ext cx="1554480" cy="685800"/>
          </a:xfrm>
          <a:prstGeom prst="roundRect">
            <a:avLst>
              <a:gd name="adj" fmla="val 13333"/>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15" name="Text 13"/>
          <p:cNvSpPr/>
          <p:nvPr/>
        </p:nvSpPr>
        <p:spPr>
          <a:xfrm>
            <a:off x="4434840" y="2039112"/>
            <a:ext cx="1554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ATmega32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CPU</a:t>
            </a:r>
            <a:endParaRPr lang="en-US" sz="1100" dirty="0"/>
          </a:p>
        </p:txBody>
      </p:sp>
      <p:sp>
        <p:nvSpPr>
          <p:cNvPr id="16" name="Text 14"/>
          <p:cNvSpPr/>
          <p:nvPr/>
        </p:nvSpPr>
        <p:spPr>
          <a:xfrm>
            <a:off x="4434840" y="2450592"/>
            <a:ext cx="1554480" cy="219456"/>
          </a:xfrm>
          <a:prstGeom prst="rect">
            <a:avLst/>
          </a:prstGeom>
          <a:noFill/>
          <a:ln/>
        </p:spPr>
        <p:txBody>
          <a:bodyPr wrap="square" lIns="0" tIns="0" rIns="0" bIns="0" rtlCol="0" anchor="ctr"/>
          <a:lstStyle/>
          <a:p>
            <a:pPr marL="0" indent="0" algn="ctr">
              <a:buNone/>
            </a:pPr>
            <a:r>
              <a:rPr lang="en-US" sz="850" dirty="0">
                <a:solidFill>
                  <a:srgbClr val="A8C8DC"/>
                </a:solidFill>
                <a:latin typeface="Calibri" pitchFamily="34" charset="0"/>
                <a:ea typeface="Calibri" pitchFamily="34" charset="-122"/>
                <a:cs typeface="Calibri" pitchFamily="34" charset="-120"/>
              </a:rPr>
              <a:t>Firmware Logic</a:t>
            </a:r>
            <a:endParaRPr lang="en-US" sz="850" dirty="0"/>
          </a:p>
        </p:txBody>
      </p:sp>
      <p:sp>
        <p:nvSpPr>
          <p:cNvPr id="17" name="Shape 15"/>
          <p:cNvSpPr/>
          <p:nvPr/>
        </p:nvSpPr>
        <p:spPr>
          <a:xfrm>
            <a:off x="5989320" y="2354580"/>
            <a:ext cx="411480" cy="0"/>
          </a:xfrm>
          <a:prstGeom prst="line">
            <a:avLst/>
          </a:prstGeom>
          <a:noFill/>
          <a:ln w="25400">
            <a:solidFill>
              <a:srgbClr val="0D7377"/>
            </a:solidFill>
            <a:prstDash val="solid"/>
          </a:ln>
        </p:spPr>
      </p:sp>
      <p:sp>
        <p:nvSpPr>
          <p:cNvPr id="18" name="Shape 16"/>
          <p:cNvSpPr/>
          <p:nvPr/>
        </p:nvSpPr>
        <p:spPr>
          <a:xfrm>
            <a:off x="6400800" y="1527048"/>
            <a:ext cx="411480" cy="0"/>
          </a:xfrm>
          <a:prstGeom prst="line">
            <a:avLst/>
          </a:prstGeom>
          <a:noFill/>
          <a:ln w="12700">
            <a:solidFill>
              <a:srgbClr val="AAAAAA"/>
            </a:solidFill>
            <a:prstDash val="dash"/>
          </a:ln>
        </p:spPr>
      </p:sp>
      <p:sp>
        <p:nvSpPr>
          <p:cNvPr id="19" name="Shape 17"/>
          <p:cNvSpPr/>
          <p:nvPr/>
        </p:nvSpPr>
        <p:spPr>
          <a:xfrm>
            <a:off x="6812280" y="1188720"/>
            <a:ext cx="2011680" cy="685800"/>
          </a:xfrm>
          <a:prstGeom prst="roundRect">
            <a:avLst>
              <a:gd name="adj" fmla="val 10667"/>
            </a:avLst>
          </a:prstGeom>
          <a:solidFill>
            <a:srgbClr val="27AE60">
              <a:alpha val="88000"/>
            </a:srgbClr>
          </a:solidFill>
          <a:ln w="19050">
            <a:solidFill>
              <a:srgbClr val="27AE60"/>
            </a:solidFill>
            <a:prstDash val="solid"/>
          </a:ln>
          <a:effectLst>
            <a:outerShdw blurRad="101600" dist="38100" dir="2700000" algn="bl" rotWithShape="0">
              <a:srgbClr val="000000">
                <a:alpha val="12000"/>
              </a:srgbClr>
            </a:outerShdw>
          </a:effectLst>
        </p:spPr>
      </p:sp>
      <p:sp>
        <p:nvSpPr>
          <p:cNvPr id="20" name="Text 18"/>
          <p:cNvSpPr/>
          <p:nvPr/>
        </p:nvSpPr>
        <p:spPr>
          <a:xfrm>
            <a:off x="6839712" y="1225296"/>
            <a:ext cx="1956816" cy="32004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Green LED  (PB0)</a:t>
            </a:r>
            <a:endParaRPr lang="en-US" sz="1000" dirty="0"/>
          </a:p>
        </p:txBody>
      </p:sp>
      <p:sp>
        <p:nvSpPr>
          <p:cNvPr id="21" name="Text 19"/>
          <p:cNvSpPr/>
          <p:nvPr/>
        </p:nvSpPr>
        <p:spPr>
          <a:xfrm>
            <a:off x="6839712" y="1554480"/>
            <a:ext cx="1956816"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Low Temp  &lt;25°C</a:t>
            </a:r>
            <a:endParaRPr lang="en-US" sz="900" dirty="0"/>
          </a:p>
        </p:txBody>
      </p:sp>
      <p:sp>
        <p:nvSpPr>
          <p:cNvPr id="22" name="Shape 20"/>
          <p:cNvSpPr/>
          <p:nvPr/>
        </p:nvSpPr>
        <p:spPr>
          <a:xfrm>
            <a:off x="6400800" y="2350008"/>
            <a:ext cx="411480" cy="0"/>
          </a:xfrm>
          <a:prstGeom prst="line">
            <a:avLst/>
          </a:prstGeom>
          <a:noFill/>
          <a:ln w="12700">
            <a:solidFill>
              <a:srgbClr val="AAAAAA"/>
            </a:solidFill>
            <a:prstDash val="dash"/>
          </a:ln>
        </p:spPr>
      </p:sp>
      <p:sp>
        <p:nvSpPr>
          <p:cNvPr id="23" name="Shape 21"/>
          <p:cNvSpPr/>
          <p:nvPr/>
        </p:nvSpPr>
        <p:spPr>
          <a:xfrm>
            <a:off x="6812280" y="2011680"/>
            <a:ext cx="2011680" cy="685800"/>
          </a:xfrm>
          <a:prstGeom prst="roundRect">
            <a:avLst>
              <a:gd name="adj" fmla="val 10667"/>
            </a:avLst>
          </a:prstGeom>
          <a:solidFill>
            <a:srgbClr val="F39C12">
              <a:alpha val="88000"/>
            </a:srgbClr>
          </a:solidFill>
          <a:ln w="19050">
            <a:solidFill>
              <a:srgbClr val="F39C12"/>
            </a:solidFill>
            <a:prstDash val="solid"/>
          </a:ln>
          <a:effectLst>
            <a:outerShdw blurRad="101600" dist="38100" dir="2700000" algn="bl" rotWithShape="0">
              <a:srgbClr val="000000">
                <a:alpha val="12000"/>
              </a:srgbClr>
            </a:outerShdw>
          </a:effectLst>
        </p:spPr>
      </p:sp>
      <p:sp>
        <p:nvSpPr>
          <p:cNvPr id="24" name="Text 22"/>
          <p:cNvSpPr/>
          <p:nvPr/>
        </p:nvSpPr>
        <p:spPr>
          <a:xfrm>
            <a:off x="6839712" y="2048256"/>
            <a:ext cx="1956816" cy="32004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Yellow LED (PB1)</a:t>
            </a:r>
            <a:endParaRPr lang="en-US" sz="1000" dirty="0"/>
          </a:p>
        </p:txBody>
      </p:sp>
      <p:sp>
        <p:nvSpPr>
          <p:cNvPr id="25" name="Text 23"/>
          <p:cNvSpPr/>
          <p:nvPr/>
        </p:nvSpPr>
        <p:spPr>
          <a:xfrm>
            <a:off x="6839712" y="2377440"/>
            <a:ext cx="1956816"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Normal   25–35°C</a:t>
            </a:r>
            <a:endParaRPr lang="en-US" sz="900" dirty="0"/>
          </a:p>
        </p:txBody>
      </p:sp>
      <p:sp>
        <p:nvSpPr>
          <p:cNvPr id="26" name="Shape 24"/>
          <p:cNvSpPr/>
          <p:nvPr/>
        </p:nvSpPr>
        <p:spPr>
          <a:xfrm>
            <a:off x="6400800" y="3172968"/>
            <a:ext cx="411480" cy="0"/>
          </a:xfrm>
          <a:prstGeom prst="line">
            <a:avLst/>
          </a:prstGeom>
          <a:noFill/>
          <a:ln w="12700">
            <a:solidFill>
              <a:srgbClr val="AAAAAA"/>
            </a:solidFill>
            <a:prstDash val="dash"/>
          </a:ln>
        </p:spPr>
      </p:sp>
      <p:sp>
        <p:nvSpPr>
          <p:cNvPr id="27" name="Shape 25"/>
          <p:cNvSpPr/>
          <p:nvPr/>
        </p:nvSpPr>
        <p:spPr>
          <a:xfrm>
            <a:off x="6812280" y="2834640"/>
            <a:ext cx="2011680" cy="685800"/>
          </a:xfrm>
          <a:prstGeom prst="roundRect">
            <a:avLst>
              <a:gd name="adj" fmla="val 10667"/>
            </a:avLst>
          </a:prstGeom>
          <a:solidFill>
            <a:srgbClr val="C0392B">
              <a:alpha val="88000"/>
            </a:srgbClr>
          </a:solidFill>
          <a:ln w="19050">
            <a:solidFill>
              <a:srgbClr val="C0392B"/>
            </a:solidFill>
            <a:prstDash val="solid"/>
          </a:ln>
          <a:effectLst>
            <a:outerShdw blurRad="101600" dist="38100" dir="2700000" algn="bl" rotWithShape="0">
              <a:srgbClr val="000000">
                <a:alpha val="12000"/>
              </a:srgbClr>
            </a:outerShdw>
          </a:effectLst>
        </p:spPr>
      </p:sp>
      <p:sp>
        <p:nvSpPr>
          <p:cNvPr id="28" name="Text 26"/>
          <p:cNvSpPr/>
          <p:nvPr/>
        </p:nvSpPr>
        <p:spPr>
          <a:xfrm>
            <a:off x="6839712" y="2871216"/>
            <a:ext cx="1956816" cy="32004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Red LED (PB3)</a:t>
            </a:r>
            <a:endParaRPr lang="en-US" sz="1000" dirty="0"/>
          </a:p>
        </p:txBody>
      </p:sp>
      <p:sp>
        <p:nvSpPr>
          <p:cNvPr id="29" name="Text 27"/>
          <p:cNvSpPr/>
          <p:nvPr/>
        </p:nvSpPr>
        <p:spPr>
          <a:xfrm>
            <a:off x="6839712" y="3200400"/>
            <a:ext cx="1956816"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High Temp  &gt;35°C</a:t>
            </a:r>
            <a:endParaRPr lang="en-US" sz="900" dirty="0"/>
          </a:p>
        </p:txBody>
      </p:sp>
      <p:sp>
        <p:nvSpPr>
          <p:cNvPr id="30" name="Shape 28"/>
          <p:cNvSpPr/>
          <p:nvPr/>
        </p:nvSpPr>
        <p:spPr>
          <a:xfrm>
            <a:off x="6400800" y="3995928"/>
            <a:ext cx="411480" cy="0"/>
          </a:xfrm>
          <a:prstGeom prst="line">
            <a:avLst/>
          </a:prstGeom>
          <a:noFill/>
          <a:ln w="12700">
            <a:solidFill>
              <a:srgbClr val="AAAAAA"/>
            </a:solidFill>
            <a:prstDash val="dash"/>
          </a:ln>
        </p:spPr>
      </p:sp>
      <p:sp>
        <p:nvSpPr>
          <p:cNvPr id="31" name="Shape 29"/>
          <p:cNvSpPr/>
          <p:nvPr/>
        </p:nvSpPr>
        <p:spPr>
          <a:xfrm>
            <a:off x="6812280" y="3663863"/>
            <a:ext cx="2011680" cy="685800"/>
          </a:xfrm>
          <a:prstGeom prst="roundRect">
            <a:avLst>
              <a:gd name="adj" fmla="val 10667"/>
            </a:avLst>
          </a:prstGeom>
          <a:solidFill>
            <a:srgbClr val="2980B9">
              <a:alpha val="88000"/>
            </a:srgbClr>
          </a:solidFill>
          <a:ln w="19050">
            <a:solidFill>
              <a:srgbClr val="2980B9"/>
            </a:solidFill>
            <a:prstDash val="solid"/>
          </a:ln>
          <a:effectLst>
            <a:outerShdw blurRad="101600" dist="38100" dir="2700000" algn="bl" rotWithShape="0">
              <a:srgbClr val="000000">
                <a:alpha val="12000"/>
              </a:srgbClr>
            </a:outerShdw>
          </a:effectLst>
        </p:spPr>
      </p:sp>
      <p:sp>
        <p:nvSpPr>
          <p:cNvPr id="32" name="Text 30"/>
          <p:cNvSpPr/>
          <p:nvPr/>
        </p:nvSpPr>
        <p:spPr>
          <a:xfrm>
            <a:off x="6839712" y="3694176"/>
            <a:ext cx="1956816" cy="32004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Buzzer PB6</a:t>
            </a:r>
            <a:endParaRPr lang="en-US" sz="1000" dirty="0"/>
          </a:p>
        </p:txBody>
      </p:sp>
      <p:sp>
        <p:nvSpPr>
          <p:cNvPr id="33" name="Text 31"/>
          <p:cNvSpPr/>
          <p:nvPr/>
        </p:nvSpPr>
        <p:spPr>
          <a:xfrm>
            <a:off x="6839712" y="4023360"/>
            <a:ext cx="1956816" cy="256032"/>
          </a:xfrm>
          <a:prstGeom prst="rect">
            <a:avLst/>
          </a:prstGeom>
          <a:noFill/>
          <a:ln/>
        </p:spPr>
        <p:txBody>
          <a:bodyPr wrap="square" lIns="0" tIns="0" rIns="0" bIns="0" rtlCol="0" anchor="ctr"/>
          <a:lstStyle/>
          <a:p>
            <a:pPr marL="0" indent="0" algn="ctr">
              <a:buNone/>
            </a:pPr>
            <a:endParaRPr lang="en-US" sz="900" dirty="0"/>
          </a:p>
        </p:txBody>
      </p:sp>
      <p:sp>
        <p:nvSpPr>
          <p:cNvPr id="34" name="Shape 32"/>
          <p:cNvSpPr/>
          <p:nvPr/>
        </p:nvSpPr>
        <p:spPr>
          <a:xfrm>
            <a:off x="6400800" y="1527048"/>
            <a:ext cx="0" cy="2496312"/>
          </a:xfrm>
          <a:prstGeom prst="line">
            <a:avLst/>
          </a:prstGeom>
          <a:noFill/>
          <a:ln w="25400">
            <a:solidFill>
              <a:srgbClr val="0D7377"/>
            </a:solidFill>
            <a:prstDash val="solid"/>
          </a:ln>
        </p:spPr>
      </p:sp>
      <p:sp>
        <p:nvSpPr>
          <p:cNvPr id="35" name="Text 33"/>
          <p:cNvSpPr/>
          <p:nvPr/>
        </p:nvSpPr>
        <p:spPr>
          <a:xfrm>
            <a:off x="1737360" y="1783080"/>
            <a:ext cx="1554480" cy="201168"/>
          </a:xfrm>
          <a:prstGeom prst="rect">
            <a:avLst/>
          </a:prstGeom>
          <a:noFill/>
          <a:ln/>
        </p:spPr>
        <p:txBody>
          <a:bodyPr wrap="square" rtlCol="0" anchor="ctr"/>
          <a:lstStyle/>
          <a:p>
            <a:pPr marL="0" indent="0" algn="ctr">
              <a:buNone/>
            </a:pPr>
            <a:r>
              <a:rPr lang="en-US" sz="800" i="1" dirty="0">
                <a:solidFill>
                  <a:srgbClr val="0D7377"/>
                </a:solidFill>
                <a:latin typeface="Calibri" pitchFamily="34" charset="0"/>
                <a:ea typeface="Calibri" pitchFamily="34" charset="-122"/>
                <a:cs typeface="Calibri" pitchFamily="34" charset="-120"/>
              </a:rPr>
              <a:t>Analog Voltage (10 mV/°C)</a:t>
            </a:r>
            <a:endParaRPr lang="en-US" sz="800" dirty="0"/>
          </a:p>
        </p:txBody>
      </p:sp>
      <p:sp>
        <p:nvSpPr>
          <p:cNvPr id="36" name="Text 34"/>
          <p:cNvSpPr/>
          <p:nvPr/>
        </p:nvSpPr>
        <p:spPr>
          <a:xfrm>
            <a:off x="3840480" y="1783080"/>
            <a:ext cx="1554480" cy="201168"/>
          </a:xfrm>
          <a:prstGeom prst="rect">
            <a:avLst/>
          </a:prstGeom>
          <a:noFill/>
          <a:ln/>
        </p:spPr>
        <p:txBody>
          <a:bodyPr wrap="square"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Digital (0–1023)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ATmega32 Pin Mapping</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457200" y="960120"/>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5" name="Shape 3"/>
          <p:cNvSpPr/>
          <p:nvPr/>
        </p:nvSpPr>
        <p:spPr>
          <a:xfrm>
            <a:off x="566928" y="1106424"/>
            <a:ext cx="502920" cy="502920"/>
          </a:xfrm>
          <a:prstGeom prst="roundRect">
            <a:avLst>
              <a:gd name="adj" fmla="val 10909"/>
            </a:avLst>
          </a:prstGeom>
          <a:solidFill>
            <a:srgbClr val="0D7377"/>
          </a:solidFill>
          <a:ln w="12700">
            <a:solidFill>
              <a:srgbClr val="0D7377"/>
            </a:solidFill>
            <a:prstDash val="solid"/>
          </a:ln>
        </p:spPr>
      </p:sp>
      <p:sp>
        <p:nvSpPr>
          <p:cNvPr id="6" name="Text 4"/>
          <p:cNvSpPr/>
          <p:nvPr/>
        </p:nvSpPr>
        <p:spPr>
          <a:xfrm>
            <a:off x="1170432" y="1024128"/>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PA0 / ADC0</a:t>
            </a:r>
            <a:endParaRPr lang="en-US" sz="1250" dirty="0"/>
          </a:p>
        </p:txBody>
      </p:sp>
      <p:sp>
        <p:nvSpPr>
          <p:cNvPr id="7" name="Text 5"/>
          <p:cNvSpPr/>
          <p:nvPr/>
        </p:nvSpPr>
        <p:spPr>
          <a:xfrm>
            <a:off x="1170432" y="1307592"/>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Input (Analog)  ·  ADC Channel 0</a:t>
            </a:r>
            <a:endParaRPr lang="en-US" sz="1000" dirty="0"/>
          </a:p>
        </p:txBody>
      </p:sp>
      <p:sp>
        <p:nvSpPr>
          <p:cNvPr id="8" name="Text 6"/>
          <p:cNvSpPr/>
          <p:nvPr/>
        </p:nvSpPr>
        <p:spPr>
          <a:xfrm>
            <a:off x="1170432" y="1508760"/>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LM35 Output</a:t>
            </a:r>
            <a:endParaRPr lang="en-US" sz="1000" dirty="0"/>
          </a:p>
        </p:txBody>
      </p:sp>
      <p:sp>
        <p:nvSpPr>
          <p:cNvPr id="9" name="Shape 7"/>
          <p:cNvSpPr/>
          <p:nvPr/>
        </p:nvSpPr>
        <p:spPr>
          <a:xfrm>
            <a:off x="457200" y="1947672"/>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0" name="Shape 8"/>
          <p:cNvSpPr/>
          <p:nvPr/>
        </p:nvSpPr>
        <p:spPr>
          <a:xfrm>
            <a:off x="566928" y="2093976"/>
            <a:ext cx="502920" cy="502920"/>
          </a:xfrm>
          <a:prstGeom prst="roundRect">
            <a:avLst>
              <a:gd name="adj" fmla="val 10909"/>
            </a:avLst>
          </a:prstGeom>
          <a:solidFill>
            <a:srgbClr val="27AE60"/>
          </a:solidFill>
          <a:ln w="12700">
            <a:solidFill>
              <a:srgbClr val="27AE60"/>
            </a:solidFill>
            <a:prstDash val="solid"/>
          </a:ln>
        </p:spPr>
      </p:sp>
      <p:sp>
        <p:nvSpPr>
          <p:cNvPr id="11" name="Text 9"/>
          <p:cNvSpPr/>
          <p:nvPr/>
        </p:nvSpPr>
        <p:spPr>
          <a:xfrm>
            <a:off x="1170432" y="2011680"/>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PB0</a:t>
            </a:r>
            <a:endParaRPr lang="en-US" sz="1250" dirty="0"/>
          </a:p>
        </p:txBody>
      </p:sp>
      <p:sp>
        <p:nvSpPr>
          <p:cNvPr id="12" name="Text 10"/>
          <p:cNvSpPr/>
          <p:nvPr/>
        </p:nvSpPr>
        <p:spPr>
          <a:xfrm>
            <a:off x="1170432" y="2295144"/>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Output  ·  LED – Low Temp</a:t>
            </a:r>
            <a:endParaRPr lang="en-US" sz="1000" dirty="0"/>
          </a:p>
        </p:txBody>
      </p:sp>
      <p:sp>
        <p:nvSpPr>
          <p:cNvPr id="13" name="Text 11"/>
          <p:cNvSpPr/>
          <p:nvPr/>
        </p:nvSpPr>
        <p:spPr>
          <a:xfrm>
            <a:off x="1170432" y="2496312"/>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Green/Blue LED</a:t>
            </a:r>
            <a:endParaRPr lang="en-US" sz="1000" dirty="0"/>
          </a:p>
        </p:txBody>
      </p:sp>
      <p:sp>
        <p:nvSpPr>
          <p:cNvPr id="14" name="Shape 12"/>
          <p:cNvSpPr/>
          <p:nvPr/>
        </p:nvSpPr>
        <p:spPr>
          <a:xfrm>
            <a:off x="457200" y="2935224"/>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5" name="Shape 13"/>
          <p:cNvSpPr/>
          <p:nvPr/>
        </p:nvSpPr>
        <p:spPr>
          <a:xfrm>
            <a:off x="566928" y="3081528"/>
            <a:ext cx="502920" cy="502920"/>
          </a:xfrm>
          <a:prstGeom prst="roundRect">
            <a:avLst>
              <a:gd name="adj" fmla="val 10909"/>
            </a:avLst>
          </a:prstGeom>
          <a:solidFill>
            <a:srgbClr val="F39C12"/>
          </a:solidFill>
          <a:ln w="12700">
            <a:solidFill>
              <a:srgbClr val="F39C12"/>
            </a:solidFill>
            <a:prstDash val="solid"/>
          </a:ln>
        </p:spPr>
      </p:sp>
      <p:sp>
        <p:nvSpPr>
          <p:cNvPr id="16" name="Text 14"/>
          <p:cNvSpPr/>
          <p:nvPr/>
        </p:nvSpPr>
        <p:spPr>
          <a:xfrm>
            <a:off x="1170432" y="2999232"/>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PB1</a:t>
            </a:r>
            <a:endParaRPr lang="en-US" sz="1250" dirty="0"/>
          </a:p>
        </p:txBody>
      </p:sp>
      <p:sp>
        <p:nvSpPr>
          <p:cNvPr id="17" name="Text 15"/>
          <p:cNvSpPr/>
          <p:nvPr/>
        </p:nvSpPr>
        <p:spPr>
          <a:xfrm>
            <a:off x="1170432" y="3282696"/>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Output  ·  LED – Normal</a:t>
            </a:r>
            <a:endParaRPr lang="en-US" sz="1000" dirty="0"/>
          </a:p>
        </p:txBody>
      </p:sp>
      <p:sp>
        <p:nvSpPr>
          <p:cNvPr id="18" name="Text 16"/>
          <p:cNvSpPr/>
          <p:nvPr/>
        </p:nvSpPr>
        <p:spPr>
          <a:xfrm>
            <a:off x="1170432" y="3483864"/>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Yellow LED</a:t>
            </a:r>
            <a:endParaRPr lang="en-US" sz="1000" dirty="0"/>
          </a:p>
        </p:txBody>
      </p:sp>
      <p:sp>
        <p:nvSpPr>
          <p:cNvPr id="19" name="Shape 17"/>
          <p:cNvSpPr/>
          <p:nvPr/>
        </p:nvSpPr>
        <p:spPr>
          <a:xfrm>
            <a:off x="457200" y="3922776"/>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0" name="Shape 18"/>
          <p:cNvSpPr/>
          <p:nvPr/>
        </p:nvSpPr>
        <p:spPr>
          <a:xfrm>
            <a:off x="566928" y="4069080"/>
            <a:ext cx="502920" cy="502920"/>
          </a:xfrm>
          <a:prstGeom prst="roundRect">
            <a:avLst>
              <a:gd name="adj" fmla="val 10909"/>
            </a:avLst>
          </a:prstGeom>
          <a:solidFill>
            <a:srgbClr val="C0392B"/>
          </a:solidFill>
          <a:ln w="12700">
            <a:solidFill>
              <a:srgbClr val="C0392B"/>
            </a:solidFill>
            <a:prstDash val="solid"/>
          </a:ln>
        </p:spPr>
      </p:sp>
      <p:sp>
        <p:nvSpPr>
          <p:cNvPr id="21" name="Text 19"/>
          <p:cNvSpPr/>
          <p:nvPr/>
        </p:nvSpPr>
        <p:spPr>
          <a:xfrm>
            <a:off x="1170432" y="3986784"/>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PB2</a:t>
            </a:r>
            <a:endParaRPr lang="en-US" sz="1250" dirty="0"/>
          </a:p>
        </p:txBody>
      </p:sp>
      <p:sp>
        <p:nvSpPr>
          <p:cNvPr id="22" name="Text 20"/>
          <p:cNvSpPr/>
          <p:nvPr/>
        </p:nvSpPr>
        <p:spPr>
          <a:xfrm>
            <a:off x="1170432" y="4270248"/>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Output  ·  LED – High</a:t>
            </a:r>
            <a:endParaRPr lang="en-US" sz="1000" dirty="0"/>
          </a:p>
        </p:txBody>
      </p:sp>
      <p:sp>
        <p:nvSpPr>
          <p:cNvPr id="23" name="Text 21"/>
          <p:cNvSpPr/>
          <p:nvPr/>
        </p:nvSpPr>
        <p:spPr>
          <a:xfrm>
            <a:off x="1170432" y="4471416"/>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Red LED</a:t>
            </a:r>
            <a:endParaRPr lang="en-US" sz="1000" dirty="0"/>
          </a:p>
        </p:txBody>
      </p:sp>
      <p:sp>
        <p:nvSpPr>
          <p:cNvPr id="24" name="Shape 22"/>
          <p:cNvSpPr/>
          <p:nvPr/>
        </p:nvSpPr>
        <p:spPr>
          <a:xfrm>
            <a:off x="4800600" y="960120"/>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5" name="Shape 23"/>
          <p:cNvSpPr/>
          <p:nvPr/>
        </p:nvSpPr>
        <p:spPr>
          <a:xfrm>
            <a:off x="4910328" y="1106424"/>
            <a:ext cx="502920" cy="502920"/>
          </a:xfrm>
          <a:prstGeom prst="roundRect">
            <a:avLst>
              <a:gd name="adj" fmla="val 10909"/>
            </a:avLst>
          </a:prstGeom>
          <a:solidFill>
            <a:srgbClr val="8E44AD"/>
          </a:solidFill>
          <a:ln w="12700">
            <a:solidFill>
              <a:srgbClr val="8E44AD"/>
            </a:solidFill>
            <a:prstDash val="solid"/>
          </a:ln>
        </p:spPr>
      </p:sp>
      <p:sp>
        <p:nvSpPr>
          <p:cNvPr id="26" name="Text 24"/>
          <p:cNvSpPr/>
          <p:nvPr/>
        </p:nvSpPr>
        <p:spPr>
          <a:xfrm>
            <a:off x="5513832" y="1024128"/>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PB3</a:t>
            </a:r>
            <a:endParaRPr lang="en-US" sz="1250" dirty="0"/>
          </a:p>
        </p:txBody>
      </p:sp>
      <p:sp>
        <p:nvSpPr>
          <p:cNvPr id="27" name="Text 25"/>
          <p:cNvSpPr/>
          <p:nvPr/>
        </p:nvSpPr>
        <p:spPr>
          <a:xfrm>
            <a:off x="5513832" y="1307592"/>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Output  ·  Buzzer Drive</a:t>
            </a:r>
            <a:endParaRPr lang="en-US" sz="1000" dirty="0"/>
          </a:p>
        </p:txBody>
      </p:sp>
      <p:sp>
        <p:nvSpPr>
          <p:cNvPr id="28" name="Text 26"/>
          <p:cNvSpPr/>
          <p:nvPr/>
        </p:nvSpPr>
        <p:spPr>
          <a:xfrm>
            <a:off x="5513832" y="1508760"/>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Buzzer (2N2222)</a:t>
            </a:r>
            <a:endParaRPr lang="en-US" sz="1000" dirty="0"/>
          </a:p>
        </p:txBody>
      </p:sp>
      <p:sp>
        <p:nvSpPr>
          <p:cNvPr id="34" name="Shape 32"/>
          <p:cNvSpPr/>
          <p:nvPr/>
        </p:nvSpPr>
        <p:spPr>
          <a:xfrm>
            <a:off x="4800600" y="2935224"/>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35" name="Shape 33"/>
          <p:cNvSpPr/>
          <p:nvPr/>
        </p:nvSpPr>
        <p:spPr>
          <a:xfrm>
            <a:off x="4910328" y="3081528"/>
            <a:ext cx="502920" cy="502920"/>
          </a:xfrm>
          <a:prstGeom prst="roundRect">
            <a:avLst>
              <a:gd name="adj" fmla="val 10909"/>
            </a:avLst>
          </a:prstGeom>
          <a:solidFill>
            <a:srgbClr val="1A2C5B"/>
          </a:solidFill>
          <a:ln w="12700">
            <a:solidFill>
              <a:srgbClr val="1A2C5B"/>
            </a:solidFill>
            <a:prstDash val="solid"/>
          </a:ln>
        </p:spPr>
      </p:sp>
      <p:sp>
        <p:nvSpPr>
          <p:cNvPr id="36" name="Text 34"/>
          <p:cNvSpPr/>
          <p:nvPr/>
        </p:nvSpPr>
        <p:spPr>
          <a:xfrm>
            <a:off x="5513832" y="2999232"/>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AVCC / AREF</a:t>
            </a:r>
            <a:endParaRPr lang="en-US" sz="1250" dirty="0"/>
          </a:p>
        </p:txBody>
      </p:sp>
      <p:sp>
        <p:nvSpPr>
          <p:cNvPr id="37" name="Text 35"/>
          <p:cNvSpPr/>
          <p:nvPr/>
        </p:nvSpPr>
        <p:spPr>
          <a:xfrm>
            <a:off x="5513832" y="3282696"/>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Power/Ref  ·  ADC Supply + Ref</a:t>
            </a:r>
            <a:endParaRPr lang="en-US" sz="1000" dirty="0"/>
          </a:p>
        </p:txBody>
      </p:sp>
      <p:sp>
        <p:nvSpPr>
          <p:cNvPr id="38" name="Text 36"/>
          <p:cNvSpPr/>
          <p:nvPr/>
        </p:nvSpPr>
        <p:spPr>
          <a:xfrm>
            <a:off x="5513832" y="3483864"/>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100 nF caps</a:t>
            </a:r>
            <a:endParaRPr lang="en-US" sz="1000" dirty="0"/>
          </a:p>
        </p:txBody>
      </p:sp>
      <p:sp>
        <p:nvSpPr>
          <p:cNvPr id="39" name="Shape 37"/>
          <p:cNvSpPr/>
          <p:nvPr/>
        </p:nvSpPr>
        <p:spPr>
          <a:xfrm>
            <a:off x="4800600" y="3922776"/>
            <a:ext cx="4069080" cy="804672"/>
          </a:xfrm>
          <a:prstGeom prst="roundRect">
            <a:avLst>
              <a:gd name="adj" fmla="val 795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40" name="Shape 38"/>
          <p:cNvSpPr/>
          <p:nvPr/>
        </p:nvSpPr>
        <p:spPr>
          <a:xfrm>
            <a:off x="4910328" y="4069080"/>
            <a:ext cx="502920" cy="502920"/>
          </a:xfrm>
          <a:prstGeom prst="roundRect">
            <a:avLst>
              <a:gd name="adj" fmla="val 10909"/>
            </a:avLst>
          </a:prstGeom>
          <a:solidFill>
            <a:srgbClr val="1A2C5B"/>
          </a:solidFill>
          <a:ln w="12700">
            <a:solidFill>
              <a:srgbClr val="1A2C5B"/>
            </a:solidFill>
            <a:prstDash val="solid"/>
          </a:ln>
        </p:spPr>
      </p:sp>
      <p:sp>
        <p:nvSpPr>
          <p:cNvPr id="41" name="Text 39"/>
          <p:cNvSpPr/>
          <p:nvPr/>
        </p:nvSpPr>
        <p:spPr>
          <a:xfrm>
            <a:off x="5513832" y="3986784"/>
            <a:ext cx="3246120" cy="274320"/>
          </a:xfrm>
          <a:prstGeom prst="rect">
            <a:avLst/>
          </a:prstGeom>
          <a:noFill/>
          <a:ln/>
        </p:spPr>
        <p:txBody>
          <a:bodyPr wrap="square"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XTAL1/2</a:t>
            </a:r>
            <a:endParaRPr lang="en-US" sz="1250" dirty="0"/>
          </a:p>
        </p:txBody>
      </p:sp>
      <p:sp>
        <p:nvSpPr>
          <p:cNvPr id="42" name="Text 40"/>
          <p:cNvSpPr/>
          <p:nvPr/>
        </p:nvSpPr>
        <p:spPr>
          <a:xfrm>
            <a:off x="5513832" y="4270248"/>
            <a:ext cx="3246120" cy="2011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Clock  ·  16 MHz Crystal</a:t>
            </a:r>
            <a:endParaRPr lang="en-US" sz="1000" dirty="0"/>
          </a:p>
        </p:txBody>
      </p:sp>
      <p:sp>
        <p:nvSpPr>
          <p:cNvPr id="43" name="Text 41"/>
          <p:cNvSpPr/>
          <p:nvPr/>
        </p:nvSpPr>
        <p:spPr>
          <a:xfrm>
            <a:off x="5513832" y="4471416"/>
            <a:ext cx="3246120" cy="201168"/>
          </a:xfrm>
          <a:prstGeom prst="rect">
            <a:avLst/>
          </a:prstGeom>
          <a:noFill/>
          <a:ln/>
        </p:spPr>
        <p:txBody>
          <a:bodyPr wrap="square" rtlCol="0" anchor="ctr"/>
          <a:lstStyle/>
          <a:p>
            <a:pPr marL="0" indent="0">
              <a:buNone/>
            </a:pPr>
            <a:r>
              <a:rPr lang="en-US" sz="1000" i="1" dirty="0">
                <a:solidFill>
                  <a:srgbClr val="0D7377"/>
                </a:solidFill>
                <a:latin typeface="Calibri" pitchFamily="34" charset="0"/>
                <a:ea typeface="Calibri" pitchFamily="34" charset="-122"/>
                <a:cs typeface="Calibri" pitchFamily="34" charset="-120"/>
              </a:rPr>
              <a:t>Y1 + 22 pF caps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Firmware Design &amp; Flowchart</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438912" y="896112"/>
            <a:ext cx="3840480" cy="347472"/>
          </a:xfrm>
          <a:prstGeom prst="ellipse">
            <a:avLst/>
          </a:prstGeom>
          <a:solidFill>
            <a:srgbClr val="0D7377"/>
          </a:solidFill>
          <a:ln w="12700">
            <a:solidFill>
              <a:srgbClr val="0D7377"/>
            </a:solidFill>
            <a:prstDash val="solid"/>
          </a:ln>
          <a:effectLst>
            <a:outerShdw blurRad="101600" dist="38100" dir="2700000" algn="bl" rotWithShape="0">
              <a:srgbClr val="000000">
                <a:alpha val="12000"/>
              </a:srgbClr>
            </a:outerShdw>
          </a:effectLst>
        </p:spPr>
      </p:sp>
      <p:sp>
        <p:nvSpPr>
          <p:cNvPr id="5" name="Text 3"/>
          <p:cNvSpPr/>
          <p:nvPr/>
        </p:nvSpPr>
        <p:spPr>
          <a:xfrm>
            <a:off x="438912" y="896112"/>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START</a:t>
            </a:r>
            <a:endParaRPr lang="en-US" sz="1050" dirty="0"/>
          </a:p>
        </p:txBody>
      </p:sp>
      <p:sp>
        <p:nvSpPr>
          <p:cNvPr id="6" name="Shape 4"/>
          <p:cNvSpPr/>
          <p:nvPr/>
        </p:nvSpPr>
        <p:spPr>
          <a:xfrm>
            <a:off x="2359152" y="1243584"/>
            <a:ext cx="0" cy="73152"/>
          </a:xfrm>
          <a:prstGeom prst="line">
            <a:avLst/>
          </a:prstGeom>
          <a:noFill/>
          <a:ln w="19050">
            <a:solidFill>
              <a:srgbClr val="AAAAAA"/>
            </a:solidFill>
            <a:prstDash val="solid"/>
          </a:ln>
        </p:spPr>
      </p:sp>
      <p:sp>
        <p:nvSpPr>
          <p:cNvPr id="7" name="Shape 5"/>
          <p:cNvSpPr/>
          <p:nvPr/>
        </p:nvSpPr>
        <p:spPr>
          <a:xfrm>
            <a:off x="438912" y="1316736"/>
            <a:ext cx="3840480" cy="347472"/>
          </a:xfrm>
          <a:prstGeom prst="roundRect">
            <a:avLst>
              <a:gd name="adj" fmla="val 13158"/>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8" name="Text 6"/>
          <p:cNvSpPr/>
          <p:nvPr/>
        </p:nvSpPr>
        <p:spPr>
          <a:xfrm>
            <a:off x="438912" y="1316736"/>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Initialize I/O, ADC, USART</a:t>
            </a:r>
            <a:endParaRPr lang="en-US" sz="1050" dirty="0"/>
          </a:p>
        </p:txBody>
      </p:sp>
      <p:sp>
        <p:nvSpPr>
          <p:cNvPr id="9" name="Shape 7"/>
          <p:cNvSpPr/>
          <p:nvPr/>
        </p:nvSpPr>
        <p:spPr>
          <a:xfrm>
            <a:off x="2359152" y="1664208"/>
            <a:ext cx="0" cy="73152"/>
          </a:xfrm>
          <a:prstGeom prst="line">
            <a:avLst/>
          </a:prstGeom>
          <a:noFill/>
          <a:ln w="19050">
            <a:solidFill>
              <a:srgbClr val="AAAAAA"/>
            </a:solidFill>
            <a:prstDash val="solid"/>
          </a:ln>
        </p:spPr>
      </p:sp>
      <p:sp>
        <p:nvSpPr>
          <p:cNvPr id="10" name="Shape 8"/>
          <p:cNvSpPr/>
          <p:nvPr/>
        </p:nvSpPr>
        <p:spPr>
          <a:xfrm>
            <a:off x="438912" y="1737360"/>
            <a:ext cx="3840480" cy="347472"/>
          </a:xfrm>
          <a:prstGeom prst="roundRect">
            <a:avLst>
              <a:gd name="adj" fmla="val 13158"/>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11" name="Text 9"/>
          <p:cNvSpPr/>
          <p:nvPr/>
        </p:nvSpPr>
        <p:spPr>
          <a:xfrm>
            <a:off x="438912" y="1737360"/>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Start ADC Conversion (ADSC=1)</a:t>
            </a:r>
            <a:endParaRPr lang="en-US" sz="1050" dirty="0"/>
          </a:p>
        </p:txBody>
      </p:sp>
      <p:sp>
        <p:nvSpPr>
          <p:cNvPr id="12" name="Shape 10"/>
          <p:cNvSpPr/>
          <p:nvPr/>
        </p:nvSpPr>
        <p:spPr>
          <a:xfrm>
            <a:off x="2359152" y="2084832"/>
            <a:ext cx="0" cy="73152"/>
          </a:xfrm>
          <a:prstGeom prst="line">
            <a:avLst/>
          </a:prstGeom>
          <a:noFill/>
          <a:ln w="19050">
            <a:solidFill>
              <a:srgbClr val="AAAAAA"/>
            </a:solidFill>
            <a:prstDash val="solid"/>
          </a:ln>
        </p:spPr>
      </p:sp>
      <p:sp>
        <p:nvSpPr>
          <p:cNvPr id="13" name="Shape 11"/>
          <p:cNvSpPr/>
          <p:nvPr/>
        </p:nvSpPr>
        <p:spPr>
          <a:xfrm>
            <a:off x="438912" y="2157984"/>
            <a:ext cx="3840480" cy="347472"/>
          </a:xfrm>
          <a:prstGeom prst="roundRect">
            <a:avLst>
              <a:gd name="adj" fmla="val 13158"/>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14" name="Text 12"/>
          <p:cNvSpPr/>
          <p:nvPr/>
        </p:nvSpPr>
        <p:spPr>
          <a:xfrm>
            <a:off x="438912" y="2157984"/>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Wait for ADSC to clear</a:t>
            </a:r>
            <a:endParaRPr lang="en-US" sz="1050" dirty="0"/>
          </a:p>
        </p:txBody>
      </p:sp>
      <p:sp>
        <p:nvSpPr>
          <p:cNvPr id="15" name="Shape 13"/>
          <p:cNvSpPr/>
          <p:nvPr/>
        </p:nvSpPr>
        <p:spPr>
          <a:xfrm>
            <a:off x="2359152" y="2505456"/>
            <a:ext cx="0" cy="73152"/>
          </a:xfrm>
          <a:prstGeom prst="line">
            <a:avLst/>
          </a:prstGeom>
          <a:noFill/>
          <a:ln w="19050">
            <a:solidFill>
              <a:srgbClr val="AAAAAA"/>
            </a:solidFill>
            <a:prstDash val="solid"/>
          </a:ln>
        </p:spPr>
      </p:sp>
      <p:sp>
        <p:nvSpPr>
          <p:cNvPr id="16" name="Shape 14"/>
          <p:cNvSpPr/>
          <p:nvPr/>
        </p:nvSpPr>
        <p:spPr>
          <a:xfrm>
            <a:off x="438912" y="2578608"/>
            <a:ext cx="3840480" cy="347472"/>
          </a:xfrm>
          <a:prstGeom prst="roundRect">
            <a:avLst>
              <a:gd name="adj" fmla="val 13158"/>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17" name="Text 15"/>
          <p:cNvSpPr/>
          <p:nvPr/>
        </p:nvSpPr>
        <p:spPr>
          <a:xfrm>
            <a:off x="438912" y="2578608"/>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Read ADC Result (10-bit)</a:t>
            </a:r>
            <a:endParaRPr lang="en-US" sz="1050" dirty="0"/>
          </a:p>
        </p:txBody>
      </p:sp>
      <p:sp>
        <p:nvSpPr>
          <p:cNvPr id="18" name="Shape 16"/>
          <p:cNvSpPr/>
          <p:nvPr/>
        </p:nvSpPr>
        <p:spPr>
          <a:xfrm>
            <a:off x="2359152" y="2926080"/>
            <a:ext cx="0" cy="73152"/>
          </a:xfrm>
          <a:prstGeom prst="line">
            <a:avLst/>
          </a:prstGeom>
          <a:noFill/>
          <a:ln w="19050">
            <a:solidFill>
              <a:srgbClr val="AAAAAA"/>
            </a:solidFill>
            <a:prstDash val="solid"/>
          </a:ln>
        </p:spPr>
      </p:sp>
      <p:sp>
        <p:nvSpPr>
          <p:cNvPr id="19" name="Shape 17"/>
          <p:cNvSpPr/>
          <p:nvPr/>
        </p:nvSpPr>
        <p:spPr>
          <a:xfrm>
            <a:off x="438912" y="2999232"/>
            <a:ext cx="3840480" cy="347472"/>
          </a:xfrm>
          <a:prstGeom prst="roundRect">
            <a:avLst>
              <a:gd name="adj" fmla="val 13158"/>
            </a:avLst>
          </a:prstGeom>
          <a:solidFill>
            <a:srgbClr val="8E44AD"/>
          </a:solidFill>
          <a:ln w="12700">
            <a:solidFill>
              <a:srgbClr val="8E44AD"/>
            </a:solidFill>
            <a:prstDash val="solid"/>
          </a:ln>
          <a:effectLst>
            <a:outerShdw blurRad="101600" dist="38100" dir="2700000" algn="bl" rotWithShape="0">
              <a:srgbClr val="000000">
                <a:alpha val="12000"/>
              </a:srgbClr>
            </a:outerShdw>
          </a:effectLst>
        </p:spPr>
      </p:sp>
      <p:sp>
        <p:nvSpPr>
          <p:cNvPr id="20" name="Text 18"/>
          <p:cNvSpPr/>
          <p:nvPr/>
        </p:nvSpPr>
        <p:spPr>
          <a:xfrm>
            <a:off x="438912" y="2999232"/>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Convert: Temp = ADC×500/1023</a:t>
            </a:r>
            <a:endParaRPr lang="en-US" sz="1050" dirty="0"/>
          </a:p>
        </p:txBody>
      </p:sp>
      <p:sp>
        <p:nvSpPr>
          <p:cNvPr id="21" name="Shape 19"/>
          <p:cNvSpPr/>
          <p:nvPr/>
        </p:nvSpPr>
        <p:spPr>
          <a:xfrm>
            <a:off x="2359152" y="3346704"/>
            <a:ext cx="0" cy="73152"/>
          </a:xfrm>
          <a:prstGeom prst="line">
            <a:avLst/>
          </a:prstGeom>
          <a:noFill/>
          <a:ln w="19050">
            <a:solidFill>
              <a:srgbClr val="AAAAAA"/>
            </a:solidFill>
            <a:prstDash val="solid"/>
          </a:ln>
        </p:spPr>
      </p:sp>
      <p:sp>
        <p:nvSpPr>
          <p:cNvPr id="22" name="Shape 20"/>
          <p:cNvSpPr/>
          <p:nvPr/>
        </p:nvSpPr>
        <p:spPr>
          <a:xfrm>
            <a:off x="438912" y="3419856"/>
            <a:ext cx="3840480" cy="347472"/>
          </a:xfrm>
          <a:prstGeom prst="roundRect">
            <a:avLst>
              <a:gd name="adj" fmla="val 31579"/>
            </a:avLst>
          </a:prstGeom>
          <a:solidFill>
            <a:srgbClr val="E07B39"/>
          </a:solidFill>
          <a:ln w="12700">
            <a:solidFill>
              <a:srgbClr val="E07B39"/>
            </a:solidFill>
            <a:prstDash val="solid"/>
          </a:ln>
          <a:effectLst>
            <a:outerShdw blurRad="101600" dist="38100" dir="2700000" algn="bl" rotWithShape="0">
              <a:srgbClr val="000000">
                <a:alpha val="12000"/>
              </a:srgbClr>
            </a:outerShdw>
          </a:effectLst>
        </p:spPr>
      </p:sp>
      <p:sp>
        <p:nvSpPr>
          <p:cNvPr id="23" name="Text 21"/>
          <p:cNvSpPr/>
          <p:nvPr/>
        </p:nvSpPr>
        <p:spPr>
          <a:xfrm>
            <a:off x="438912" y="3419856"/>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Classify: Low / Normal / High</a:t>
            </a:r>
            <a:endParaRPr lang="en-US" sz="1050" dirty="0"/>
          </a:p>
        </p:txBody>
      </p:sp>
      <p:sp>
        <p:nvSpPr>
          <p:cNvPr id="24" name="Shape 22"/>
          <p:cNvSpPr/>
          <p:nvPr/>
        </p:nvSpPr>
        <p:spPr>
          <a:xfrm>
            <a:off x="2359152" y="3767328"/>
            <a:ext cx="0" cy="73152"/>
          </a:xfrm>
          <a:prstGeom prst="line">
            <a:avLst/>
          </a:prstGeom>
          <a:noFill/>
          <a:ln w="19050">
            <a:solidFill>
              <a:srgbClr val="AAAAAA"/>
            </a:solidFill>
            <a:prstDash val="solid"/>
          </a:ln>
        </p:spPr>
      </p:sp>
      <p:sp>
        <p:nvSpPr>
          <p:cNvPr id="25" name="Shape 23"/>
          <p:cNvSpPr/>
          <p:nvPr/>
        </p:nvSpPr>
        <p:spPr>
          <a:xfrm>
            <a:off x="438912" y="3840480"/>
            <a:ext cx="3840480" cy="347472"/>
          </a:xfrm>
          <a:prstGeom prst="roundRect">
            <a:avLst>
              <a:gd name="adj" fmla="val 13158"/>
            </a:avLst>
          </a:prstGeom>
          <a:solidFill>
            <a:srgbClr val="27AE60"/>
          </a:solidFill>
          <a:ln w="12700">
            <a:solidFill>
              <a:srgbClr val="27AE60"/>
            </a:solidFill>
            <a:prstDash val="solid"/>
          </a:ln>
          <a:effectLst>
            <a:outerShdw blurRad="101600" dist="38100" dir="2700000" algn="bl" rotWithShape="0">
              <a:srgbClr val="000000">
                <a:alpha val="12000"/>
              </a:srgbClr>
            </a:outerShdw>
          </a:effectLst>
        </p:spPr>
      </p:sp>
      <p:sp>
        <p:nvSpPr>
          <p:cNvPr id="26" name="Text 24"/>
          <p:cNvSpPr/>
          <p:nvPr/>
        </p:nvSpPr>
        <p:spPr>
          <a:xfrm>
            <a:off x="438912" y="3840480"/>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Drive LED + Buzzer outputs</a:t>
            </a:r>
            <a:endParaRPr lang="en-US" sz="1050" dirty="0"/>
          </a:p>
        </p:txBody>
      </p:sp>
      <p:sp>
        <p:nvSpPr>
          <p:cNvPr id="27" name="Shape 25"/>
          <p:cNvSpPr/>
          <p:nvPr/>
        </p:nvSpPr>
        <p:spPr>
          <a:xfrm>
            <a:off x="2359152" y="4187952"/>
            <a:ext cx="0" cy="73152"/>
          </a:xfrm>
          <a:prstGeom prst="line">
            <a:avLst/>
          </a:prstGeom>
          <a:noFill/>
          <a:ln w="19050">
            <a:solidFill>
              <a:srgbClr val="AAAAAA"/>
            </a:solidFill>
            <a:prstDash val="solid"/>
          </a:ln>
        </p:spPr>
      </p:sp>
      <p:sp>
        <p:nvSpPr>
          <p:cNvPr id="30" name="Shape 28"/>
          <p:cNvSpPr/>
          <p:nvPr/>
        </p:nvSpPr>
        <p:spPr>
          <a:xfrm>
            <a:off x="2359152" y="4608576"/>
            <a:ext cx="0" cy="73152"/>
          </a:xfrm>
          <a:prstGeom prst="line">
            <a:avLst/>
          </a:prstGeom>
          <a:noFill/>
          <a:ln w="19050">
            <a:solidFill>
              <a:srgbClr val="AAAAAA"/>
            </a:solidFill>
            <a:prstDash val="solid"/>
          </a:ln>
        </p:spPr>
      </p:sp>
      <p:sp>
        <p:nvSpPr>
          <p:cNvPr id="31" name="Shape 29"/>
          <p:cNvSpPr/>
          <p:nvPr/>
        </p:nvSpPr>
        <p:spPr>
          <a:xfrm>
            <a:off x="438912" y="4681728"/>
            <a:ext cx="3840480" cy="347472"/>
          </a:xfrm>
          <a:prstGeom prst="ellipse">
            <a:avLst/>
          </a:prstGeom>
          <a:solidFill>
            <a:srgbClr val="0D7377"/>
          </a:solidFill>
          <a:ln w="12700">
            <a:solidFill>
              <a:srgbClr val="0D7377"/>
            </a:solidFill>
            <a:prstDash val="solid"/>
          </a:ln>
          <a:effectLst>
            <a:outerShdw blurRad="101600" dist="38100" dir="2700000" algn="bl" rotWithShape="0">
              <a:srgbClr val="000000">
                <a:alpha val="12000"/>
              </a:srgbClr>
            </a:outerShdw>
          </a:effectLst>
        </p:spPr>
        <p:txBody>
          <a:bodyPr/>
          <a:lstStyle/>
          <a:p>
            <a:endParaRPr lang="en-US" dirty="0"/>
          </a:p>
        </p:txBody>
      </p:sp>
      <p:sp>
        <p:nvSpPr>
          <p:cNvPr id="32" name="Text 30"/>
          <p:cNvSpPr/>
          <p:nvPr/>
        </p:nvSpPr>
        <p:spPr>
          <a:xfrm>
            <a:off x="438912" y="4681728"/>
            <a:ext cx="38404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LOOP</a:t>
            </a:r>
            <a:endParaRPr lang="en-US" sz="1050" dirty="0"/>
          </a:p>
        </p:txBody>
      </p:sp>
      <p:sp>
        <p:nvSpPr>
          <p:cNvPr id="33" name="Shape 31"/>
          <p:cNvSpPr/>
          <p:nvPr/>
        </p:nvSpPr>
        <p:spPr>
          <a:xfrm>
            <a:off x="4279392" y="4754880"/>
            <a:ext cx="0" cy="0"/>
          </a:xfrm>
          <a:prstGeom prst="line">
            <a:avLst/>
          </a:prstGeom>
          <a:noFill/>
          <a:ln w="19050">
            <a:solidFill>
              <a:srgbClr val="0D7377"/>
            </a:solidFill>
            <a:prstDash val="dash"/>
          </a:ln>
        </p:spPr>
      </p:sp>
      <p:sp>
        <p:nvSpPr>
          <p:cNvPr id="34" name="Text 32"/>
          <p:cNvSpPr/>
          <p:nvPr/>
        </p:nvSpPr>
        <p:spPr>
          <a:xfrm>
            <a:off x="4315968" y="3108960"/>
            <a:ext cx="457200" cy="228600"/>
          </a:xfrm>
          <a:prstGeom prst="rect">
            <a:avLst/>
          </a:prstGeom>
          <a:noFill/>
          <a:ln/>
        </p:spPr>
        <p:txBody>
          <a:bodyPr wrap="square" rtlCol="0" anchor="ctr"/>
          <a:lstStyle/>
          <a:p>
            <a:pPr marL="0" indent="0">
              <a:buNone/>
            </a:pPr>
            <a:r>
              <a:rPr lang="en-US" sz="850" i="1" dirty="0">
                <a:solidFill>
                  <a:srgbClr val="0D7377"/>
                </a:solidFill>
                <a:latin typeface="Calibri" pitchFamily="34" charset="0"/>
                <a:ea typeface="Calibri" pitchFamily="34" charset="-122"/>
                <a:cs typeface="Calibri" pitchFamily="34" charset="-120"/>
              </a:rPr>
              <a:t>loop</a:t>
            </a:r>
            <a:endParaRPr lang="en-US" sz="850" dirty="0"/>
          </a:p>
        </p:txBody>
      </p:sp>
      <p:sp>
        <p:nvSpPr>
          <p:cNvPr id="36" name="Text 34"/>
          <p:cNvSpPr/>
          <p:nvPr/>
        </p:nvSpPr>
        <p:spPr>
          <a:xfrm>
            <a:off x="5029200" y="987552"/>
            <a:ext cx="3657600" cy="320040"/>
          </a:xfrm>
          <a:prstGeom prst="rect">
            <a:avLst/>
          </a:prstGeom>
          <a:noFill/>
          <a:ln/>
        </p:spPr>
        <p:txBody>
          <a:bodyPr wrap="square" rtlCol="0" anchor="ctr"/>
          <a:lstStyle/>
          <a:p>
            <a:pPr marL="0" indent="0">
              <a:buNone/>
            </a:pPr>
            <a:r>
              <a:rPr lang="en-US" sz="1400" b="1" dirty="0">
                <a:solidFill>
                  <a:srgbClr val="0D7377"/>
                </a:solidFill>
                <a:latin typeface="Cambria" pitchFamily="34" charset="0"/>
                <a:ea typeface="Cambria" pitchFamily="34" charset="-122"/>
                <a:cs typeface="Cambria" pitchFamily="34" charset="-120"/>
              </a:rPr>
              <a:t>Firmware Highlights</a:t>
            </a:r>
            <a:endParaRPr lang="en-US" sz="1400" dirty="0"/>
          </a:p>
        </p:txBody>
      </p:sp>
      <p:sp>
        <p:nvSpPr>
          <p:cNvPr id="37" name="Text 35"/>
          <p:cNvSpPr/>
          <p:nvPr/>
        </p:nvSpPr>
        <p:spPr>
          <a:xfrm>
            <a:off x="5029200" y="1417320"/>
            <a:ext cx="1188720" cy="256032"/>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Language:</a:t>
            </a:r>
            <a:endParaRPr lang="en-US" sz="1050" dirty="0"/>
          </a:p>
        </p:txBody>
      </p:sp>
      <p:sp>
        <p:nvSpPr>
          <p:cNvPr id="38" name="Text 36"/>
          <p:cNvSpPr/>
          <p:nvPr/>
        </p:nvSpPr>
        <p:spPr>
          <a:xfrm>
            <a:off x="6236208" y="1417320"/>
            <a:ext cx="24688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 (ANSI C99) – XC8 / avr-gcc</a:t>
            </a:r>
            <a:endParaRPr lang="en-US" sz="1000" dirty="0"/>
          </a:p>
        </p:txBody>
      </p:sp>
      <p:sp>
        <p:nvSpPr>
          <p:cNvPr id="39" name="Shape 37"/>
          <p:cNvSpPr/>
          <p:nvPr/>
        </p:nvSpPr>
        <p:spPr>
          <a:xfrm>
            <a:off x="5029200" y="1892808"/>
            <a:ext cx="3520440" cy="18288"/>
          </a:xfrm>
          <a:prstGeom prst="rect">
            <a:avLst/>
          </a:prstGeom>
          <a:solidFill>
            <a:srgbClr val="D6E8F0"/>
          </a:solidFill>
          <a:ln w="12700">
            <a:solidFill>
              <a:srgbClr val="D6E8F0"/>
            </a:solidFill>
            <a:prstDash val="solid"/>
          </a:ln>
        </p:spPr>
      </p:sp>
      <p:sp>
        <p:nvSpPr>
          <p:cNvPr id="40" name="Text 38"/>
          <p:cNvSpPr/>
          <p:nvPr/>
        </p:nvSpPr>
        <p:spPr>
          <a:xfrm>
            <a:off x="5029200" y="1965960"/>
            <a:ext cx="1188720" cy="256032"/>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ADC Setup:</a:t>
            </a:r>
            <a:endParaRPr lang="en-US" sz="1050" dirty="0"/>
          </a:p>
        </p:txBody>
      </p:sp>
      <p:sp>
        <p:nvSpPr>
          <p:cNvPr id="41" name="Text 39"/>
          <p:cNvSpPr/>
          <p:nvPr/>
        </p:nvSpPr>
        <p:spPr>
          <a:xfrm>
            <a:off x="6236208" y="1965960"/>
            <a:ext cx="24688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ADMUX = 0x40 (AVCC ref, CH0)</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ADCSRA = 0x87 (EN + prescaler /128)</a:t>
            </a:r>
            <a:endParaRPr lang="en-US" sz="1000" dirty="0"/>
          </a:p>
        </p:txBody>
      </p:sp>
      <p:sp>
        <p:nvSpPr>
          <p:cNvPr id="42" name="Shape 40"/>
          <p:cNvSpPr/>
          <p:nvPr/>
        </p:nvSpPr>
        <p:spPr>
          <a:xfrm>
            <a:off x="5029200" y="2441448"/>
            <a:ext cx="3520440" cy="18288"/>
          </a:xfrm>
          <a:prstGeom prst="rect">
            <a:avLst/>
          </a:prstGeom>
          <a:solidFill>
            <a:srgbClr val="D6E8F0"/>
          </a:solidFill>
          <a:ln w="12700">
            <a:solidFill>
              <a:srgbClr val="D6E8F0"/>
            </a:solidFill>
            <a:prstDash val="solid"/>
          </a:ln>
        </p:spPr>
      </p:sp>
      <p:sp>
        <p:nvSpPr>
          <p:cNvPr id="43" name="Text 41"/>
          <p:cNvSpPr/>
          <p:nvPr/>
        </p:nvSpPr>
        <p:spPr>
          <a:xfrm>
            <a:off x="5029200" y="2514600"/>
            <a:ext cx="1188720" cy="256032"/>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Temp Formula:</a:t>
            </a:r>
            <a:endParaRPr lang="en-US" sz="1050" dirty="0"/>
          </a:p>
        </p:txBody>
      </p:sp>
      <p:sp>
        <p:nvSpPr>
          <p:cNvPr id="44" name="Text 42"/>
          <p:cNvSpPr/>
          <p:nvPr/>
        </p:nvSpPr>
        <p:spPr>
          <a:xfrm>
            <a:off x="6236208" y="2514600"/>
            <a:ext cx="24688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T°C = (ADC × 500) / 1023</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Integer math — no float!</a:t>
            </a:r>
            <a:endParaRPr lang="en-US" sz="1000" dirty="0"/>
          </a:p>
        </p:txBody>
      </p:sp>
      <p:sp>
        <p:nvSpPr>
          <p:cNvPr id="45" name="Shape 43"/>
          <p:cNvSpPr/>
          <p:nvPr/>
        </p:nvSpPr>
        <p:spPr>
          <a:xfrm>
            <a:off x="5029200" y="2990088"/>
            <a:ext cx="3520440" cy="18288"/>
          </a:xfrm>
          <a:prstGeom prst="rect">
            <a:avLst/>
          </a:prstGeom>
          <a:solidFill>
            <a:srgbClr val="D6E8F0"/>
          </a:solidFill>
          <a:ln w="12700">
            <a:solidFill>
              <a:srgbClr val="D6E8F0"/>
            </a:solidFill>
            <a:prstDash val="solid"/>
          </a:ln>
        </p:spPr>
      </p:sp>
      <p:sp>
        <p:nvSpPr>
          <p:cNvPr id="46" name="Text 44"/>
          <p:cNvSpPr/>
          <p:nvPr/>
        </p:nvSpPr>
        <p:spPr>
          <a:xfrm>
            <a:off x="5029200" y="3063240"/>
            <a:ext cx="1188720" cy="256032"/>
          </a:xfrm>
          <a:prstGeom prst="rect">
            <a:avLst/>
          </a:prstGeom>
          <a:noFill/>
          <a:ln/>
        </p:spPr>
        <p:txBody>
          <a:bodyPr wrap="square" rtlCol="0" anchor="ctr"/>
          <a:lstStyle/>
          <a:p>
            <a:pPr marL="0" indent="0">
              <a:buNone/>
            </a:pPr>
            <a:endParaRPr lang="en-US" sz="1050" dirty="0"/>
          </a:p>
        </p:txBody>
      </p:sp>
      <p:sp>
        <p:nvSpPr>
          <p:cNvPr id="48" name="Shape 46"/>
          <p:cNvSpPr/>
          <p:nvPr/>
        </p:nvSpPr>
        <p:spPr>
          <a:xfrm>
            <a:off x="5029200" y="3538728"/>
            <a:ext cx="3520440" cy="18288"/>
          </a:xfrm>
          <a:prstGeom prst="rect">
            <a:avLst/>
          </a:prstGeom>
          <a:solidFill>
            <a:srgbClr val="D6E8F0"/>
          </a:solidFill>
          <a:ln w="12700">
            <a:solidFill>
              <a:srgbClr val="D6E8F0"/>
            </a:solidFill>
            <a:prstDash val="solid"/>
          </a:ln>
        </p:spPr>
      </p:sp>
      <p:sp>
        <p:nvSpPr>
          <p:cNvPr id="49" name="Text 47"/>
          <p:cNvSpPr/>
          <p:nvPr/>
        </p:nvSpPr>
        <p:spPr>
          <a:xfrm>
            <a:off x="5029200" y="3611880"/>
            <a:ext cx="1188720" cy="256032"/>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Error Check:</a:t>
            </a:r>
            <a:endParaRPr lang="en-US" sz="1050" dirty="0"/>
          </a:p>
        </p:txBody>
      </p:sp>
      <p:sp>
        <p:nvSpPr>
          <p:cNvPr id="50" name="Text 48"/>
          <p:cNvSpPr/>
          <p:nvPr/>
        </p:nvSpPr>
        <p:spPr>
          <a:xfrm>
            <a:off x="6236208" y="3611880"/>
            <a:ext cx="24688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ADC &lt; 5 or &gt; 900 → blink all LEDs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 send error via USART</a:t>
            </a:r>
            <a:endParaRPr lang="en-US" sz="1000" dirty="0"/>
          </a:p>
        </p:txBody>
      </p:sp>
      <p:sp>
        <p:nvSpPr>
          <p:cNvPr id="51" name="Shape 49"/>
          <p:cNvSpPr/>
          <p:nvPr/>
        </p:nvSpPr>
        <p:spPr>
          <a:xfrm>
            <a:off x="5029200" y="4087368"/>
            <a:ext cx="3520440" cy="18288"/>
          </a:xfrm>
          <a:prstGeom prst="rect">
            <a:avLst/>
          </a:prstGeom>
          <a:solidFill>
            <a:srgbClr val="D6E8F0"/>
          </a:solidFill>
          <a:ln w="12700">
            <a:solidFill>
              <a:srgbClr val="D6E8F0"/>
            </a:solidFill>
            <a:prstDash val="solid"/>
          </a:ln>
        </p:spPr>
      </p:sp>
      <p:sp>
        <p:nvSpPr>
          <p:cNvPr id="52" name="Text 50"/>
          <p:cNvSpPr/>
          <p:nvPr/>
        </p:nvSpPr>
        <p:spPr>
          <a:xfrm>
            <a:off x="5029200" y="4160520"/>
            <a:ext cx="1188720" cy="256032"/>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Loop Delay:</a:t>
            </a:r>
            <a:endParaRPr lang="en-US" sz="1050" dirty="0"/>
          </a:p>
        </p:txBody>
      </p:sp>
      <p:sp>
        <p:nvSpPr>
          <p:cNvPr id="53" name="Text 51"/>
          <p:cNvSpPr/>
          <p:nvPr/>
        </p:nvSpPr>
        <p:spPr>
          <a:xfrm>
            <a:off x="6236208" y="4160520"/>
            <a:ext cx="24688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500 ms between samples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(_delay_ms from &lt;util/delay.h&gt;)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KiCad Schematic &amp; PCB Design</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457200" y="914400"/>
            <a:ext cx="4023360" cy="3886200"/>
          </a:xfrm>
          <a:prstGeom prst="roundRect">
            <a:avLst>
              <a:gd name="adj" fmla="val 2353"/>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5" name="Text 3"/>
          <p:cNvSpPr/>
          <p:nvPr/>
        </p:nvSpPr>
        <p:spPr>
          <a:xfrm>
            <a:off x="685800" y="1024128"/>
            <a:ext cx="3566160" cy="347472"/>
          </a:xfrm>
          <a:prstGeom prst="rect">
            <a:avLst/>
          </a:prstGeom>
          <a:noFill/>
          <a:ln/>
        </p:spPr>
        <p:txBody>
          <a:bodyPr wrap="square" rtlCol="0" anchor="ctr"/>
          <a:lstStyle/>
          <a:p>
            <a:pPr marL="0" indent="0">
              <a:buNone/>
            </a:pPr>
            <a:r>
              <a:rPr lang="en-US" sz="1450" b="1" dirty="0">
                <a:solidFill>
                  <a:srgbClr val="0D7377"/>
                </a:solidFill>
                <a:latin typeface="Cambria" pitchFamily="34" charset="0"/>
                <a:ea typeface="Cambria" pitchFamily="34" charset="-122"/>
                <a:cs typeface="Cambria" pitchFamily="34" charset="-120"/>
              </a:rPr>
              <a:t>Schematic Design</a:t>
            </a:r>
            <a:endParaRPr lang="en-US" sz="1450" dirty="0"/>
          </a:p>
        </p:txBody>
      </p:sp>
      <p:sp>
        <p:nvSpPr>
          <p:cNvPr id="6" name="Text 4"/>
          <p:cNvSpPr/>
          <p:nvPr/>
        </p:nvSpPr>
        <p:spPr>
          <a:xfrm>
            <a:off x="685800" y="1463040"/>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ATmega32-16PU as main MCU</a:t>
            </a:r>
            <a:endParaRPr lang="en-US" sz="1100" dirty="0"/>
          </a:p>
        </p:txBody>
      </p:sp>
      <p:sp>
        <p:nvSpPr>
          <p:cNvPr id="7" name="Text 5"/>
          <p:cNvSpPr/>
          <p:nvPr/>
        </p:nvSpPr>
        <p:spPr>
          <a:xfrm>
            <a:off x="685800" y="1792224"/>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LM35DZ sensor → PA0 via 100 nF filter</a:t>
            </a:r>
            <a:endParaRPr lang="en-US" sz="1100" dirty="0"/>
          </a:p>
        </p:txBody>
      </p:sp>
      <p:sp>
        <p:nvSpPr>
          <p:cNvPr id="8" name="Text 6"/>
          <p:cNvSpPr/>
          <p:nvPr/>
        </p:nvSpPr>
        <p:spPr>
          <a:xfrm>
            <a:off x="685800" y="2121408"/>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3× LEDs with 330 Ω current-limiting resistors</a:t>
            </a:r>
            <a:endParaRPr lang="en-US" sz="1100" dirty="0"/>
          </a:p>
        </p:txBody>
      </p:sp>
      <p:sp>
        <p:nvSpPr>
          <p:cNvPr id="9" name="Text 7"/>
          <p:cNvSpPr/>
          <p:nvPr/>
        </p:nvSpPr>
        <p:spPr>
          <a:xfrm>
            <a:off x="685800" y="2450592"/>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Buzzer driven by 2N2222 NPN transistor</a:t>
            </a:r>
            <a:endParaRPr lang="en-US" sz="1100" dirty="0"/>
          </a:p>
        </p:txBody>
      </p:sp>
      <p:sp>
        <p:nvSpPr>
          <p:cNvPr id="10" name="Text 8"/>
          <p:cNvSpPr/>
          <p:nvPr/>
        </p:nvSpPr>
        <p:spPr>
          <a:xfrm>
            <a:off x="685800" y="2779776"/>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1N4148 flyback diode across buzzer</a:t>
            </a:r>
            <a:endParaRPr lang="en-US" sz="1100" dirty="0"/>
          </a:p>
        </p:txBody>
      </p:sp>
      <p:sp>
        <p:nvSpPr>
          <p:cNvPr id="11" name="Text 9"/>
          <p:cNvSpPr/>
          <p:nvPr/>
        </p:nvSpPr>
        <p:spPr>
          <a:xfrm>
            <a:off x="685800" y="3108960"/>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10 kΩ pull-up reset button circuit</a:t>
            </a:r>
            <a:endParaRPr lang="en-US" sz="1100" dirty="0"/>
          </a:p>
        </p:txBody>
      </p:sp>
      <p:sp>
        <p:nvSpPr>
          <p:cNvPr id="12" name="Text 10"/>
          <p:cNvSpPr/>
          <p:nvPr/>
        </p:nvSpPr>
        <p:spPr>
          <a:xfrm>
            <a:off x="685800" y="3438144"/>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16 MHz crystal + 22 pF load capacitors</a:t>
            </a:r>
            <a:endParaRPr lang="en-US" sz="1100" dirty="0"/>
          </a:p>
        </p:txBody>
      </p:sp>
      <p:sp>
        <p:nvSpPr>
          <p:cNvPr id="13" name="Text 11"/>
          <p:cNvSpPr/>
          <p:nvPr/>
        </p:nvSpPr>
        <p:spPr>
          <a:xfrm>
            <a:off x="685800" y="3767328"/>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100 nF decoupling caps on VCC, AVCC, AREF</a:t>
            </a:r>
            <a:endParaRPr lang="en-US" sz="1100" dirty="0"/>
          </a:p>
        </p:txBody>
      </p:sp>
      <p:sp>
        <p:nvSpPr>
          <p:cNvPr id="14" name="Text 12"/>
          <p:cNvSpPr/>
          <p:nvPr/>
        </p:nvSpPr>
        <p:spPr>
          <a:xfrm>
            <a:off x="685800" y="4096512"/>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USART 6-pin header connector</a:t>
            </a:r>
            <a:endParaRPr lang="en-US" sz="1100" dirty="0"/>
          </a:p>
        </p:txBody>
      </p:sp>
      <p:sp>
        <p:nvSpPr>
          <p:cNvPr id="15" name="Text 13"/>
          <p:cNvSpPr/>
          <p:nvPr/>
        </p:nvSpPr>
        <p:spPr>
          <a:xfrm>
            <a:off x="685800" y="4425696"/>
            <a:ext cx="3566160" cy="31089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  </a:t>
            </a:r>
            <a:r>
              <a:rPr lang="en-US" sz="1100" dirty="0">
                <a:solidFill>
                  <a:srgbClr val="1E293B"/>
                </a:solidFill>
                <a:latin typeface="Calibri" pitchFamily="34" charset="0"/>
                <a:ea typeface="Calibri" pitchFamily="34" charset="-122"/>
                <a:cs typeface="Calibri" pitchFamily="34" charset="-120"/>
              </a:rPr>
              <a:t>ERC: 0 Errors, 0 Warnings ✓</a:t>
            </a:r>
            <a:endParaRPr lang="en-US" sz="1100" dirty="0"/>
          </a:p>
        </p:txBody>
      </p:sp>
      <p:sp>
        <p:nvSpPr>
          <p:cNvPr id="16" name="Shape 14"/>
          <p:cNvSpPr/>
          <p:nvPr/>
        </p:nvSpPr>
        <p:spPr>
          <a:xfrm>
            <a:off x="4709160" y="914400"/>
            <a:ext cx="4023360" cy="3886200"/>
          </a:xfrm>
          <a:prstGeom prst="roundRect">
            <a:avLst>
              <a:gd name="adj" fmla="val 2353"/>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7" name="Text 15"/>
          <p:cNvSpPr/>
          <p:nvPr/>
        </p:nvSpPr>
        <p:spPr>
          <a:xfrm>
            <a:off x="4937760" y="1024128"/>
            <a:ext cx="3566160" cy="347472"/>
          </a:xfrm>
          <a:prstGeom prst="rect">
            <a:avLst/>
          </a:prstGeom>
          <a:noFill/>
          <a:ln/>
        </p:spPr>
        <p:txBody>
          <a:bodyPr wrap="square" rtlCol="0" anchor="ctr"/>
          <a:lstStyle/>
          <a:p>
            <a:pPr marL="0" indent="0">
              <a:buNone/>
            </a:pPr>
            <a:r>
              <a:rPr lang="en-US" sz="1450" b="1" dirty="0">
                <a:solidFill>
                  <a:srgbClr val="1A2C5B"/>
                </a:solidFill>
                <a:latin typeface="Cambria" pitchFamily="34" charset="0"/>
                <a:ea typeface="Cambria" pitchFamily="34" charset="-122"/>
                <a:cs typeface="Cambria" pitchFamily="34" charset="-120"/>
              </a:rPr>
              <a:t>PCB Layout</a:t>
            </a:r>
            <a:endParaRPr lang="en-US" sz="1450" dirty="0"/>
          </a:p>
        </p:txBody>
      </p:sp>
      <p:sp>
        <p:nvSpPr>
          <p:cNvPr id="18" name="Text 16"/>
          <p:cNvSpPr/>
          <p:nvPr/>
        </p:nvSpPr>
        <p:spPr>
          <a:xfrm>
            <a:off x="4937760" y="1463040"/>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Board Size:</a:t>
            </a:r>
            <a:endParaRPr lang="en-US" sz="1050" dirty="0"/>
          </a:p>
        </p:txBody>
      </p:sp>
      <p:sp>
        <p:nvSpPr>
          <p:cNvPr id="19" name="Text 17"/>
          <p:cNvSpPr/>
          <p:nvPr/>
        </p:nvSpPr>
        <p:spPr>
          <a:xfrm>
            <a:off x="6291072" y="1463040"/>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~80 × 60 mm compact layout</a:t>
            </a:r>
            <a:endParaRPr lang="en-US" sz="1050" dirty="0"/>
          </a:p>
        </p:txBody>
      </p:sp>
      <p:sp>
        <p:nvSpPr>
          <p:cNvPr id="20" name="Text 18"/>
          <p:cNvSpPr/>
          <p:nvPr/>
        </p:nvSpPr>
        <p:spPr>
          <a:xfrm>
            <a:off x="4937760" y="1792224"/>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LM35 Placement:</a:t>
            </a:r>
            <a:endParaRPr lang="en-US" sz="1050" dirty="0"/>
          </a:p>
        </p:txBody>
      </p:sp>
      <p:sp>
        <p:nvSpPr>
          <p:cNvPr id="21" name="Text 19"/>
          <p:cNvSpPr/>
          <p:nvPr/>
        </p:nvSpPr>
        <p:spPr>
          <a:xfrm>
            <a:off x="6291072" y="1792224"/>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Board edge — away from heat sources</a:t>
            </a:r>
            <a:endParaRPr lang="en-US" sz="1050" dirty="0"/>
          </a:p>
        </p:txBody>
      </p:sp>
      <p:sp>
        <p:nvSpPr>
          <p:cNvPr id="22" name="Text 20"/>
          <p:cNvSpPr/>
          <p:nvPr/>
        </p:nvSpPr>
        <p:spPr>
          <a:xfrm>
            <a:off x="4937760" y="2121408"/>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ADC Trace:</a:t>
            </a:r>
            <a:endParaRPr lang="en-US" sz="1050" dirty="0"/>
          </a:p>
        </p:txBody>
      </p:sp>
      <p:sp>
        <p:nvSpPr>
          <p:cNvPr id="23" name="Text 21"/>
          <p:cNvSpPr/>
          <p:nvPr/>
        </p:nvSpPr>
        <p:spPr>
          <a:xfrm>
            <a:off x="6291072" y="2121408"/>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Short, direct to PA0 — away from digital traces</a:t>
            </a:r>
            <a:endParaRPr lang="en-US" sz="1050" dirty="0"/>
          </a:p>
        </p:txBody>
      </p:sp>
      <p:sp>
        <p:nvSpPr>
          <p:cNvPr id="24" name="Text 22"/>
          <p:cNvSpPr/>
          <p:nvPr/>
        </p:nvSpPr>
        <p:spPr>
          <a:xfrm>
            <a:off x="4937760" y="2450592"/>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Decoupling Caps:</a:t>
            </a:r>
            <a:endParaRPr lang="en-US" sz="1050" dirty="0"/>
          </a:p>
        </p:txBody>
      </p:sp>
      <p:sp>
        <p:nvSpPr>
          <p:cNvPr id="25" name="Text 23"/>
          <p:cNvSpPr/>
          <p:nvPr/>
        </p:nvSpPr>
        <p:spPr>
          <a:xfrm>
            <a:off x="6291072" y="2450592"/>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C3 &amp; C4 within 2 mm of MCU pins</a:t>
            </a:r>
            <a:endParaRPr lang="en-US" sz="1050" dirty="0"/>
          </a:p>
        </p:txBody>
      </p:sp>
      <p:sp>
        <p:nvSpPr>
          <p:cNvPr id="26" name="Text 24"/>
          <p:cNvSpPr/>
          <p:nvPr/>
        </p:nvSpPr>
        <p:spPr>
          <a:xfrm>
            <a:off x="4937760" y="2779776"/>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Ground Plane:</a:t>
            </a:r>
            <a:endParaRPr lang="en-US" sz="1050" dirty="0"/>
          </a:p>
        </p:txBody>
      </p:sp>
      <p:sp>
        <p:nvSpPr>
          <p:cNvPr id="27" name="Text 25"/>
          <p:cNvSpPr/>
          <p:nvPr/>
        </p:nvSpPr>
        <p:spPr>
          <a:xfrm>
            <a:off x="6291072" y="2779776"/>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Solid GND pour on back copper layer</a:t>
            </a:r>
            <a:endParaRPr lang="en-US" sz="1050" dirty="0"/>
          </a:p>
        </p:txBody>
      </p:sp>
      <p:sp>
        <p:nvSpPr>
          <p:cNvPr id="28" name="Text 26"/>
          <p:cNvSpPr/>
          <p:nvPr/>
        </p:nvSpPr>
        <p:spPr>
          <a:xfrm>
            <a:off x="4937760" y="3108960"/>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Power Traces:</a:t>
            </a:r>
            <a:endParaRPr lang="en-US" sz="1050" dirty="0"/>
          </a:p>
        </p:txBody>
      </p:sp>
      <p:sp>
        <p:nvSpPr>
          <p:cNvPr id="29" name="Text 27"/>
          <p:cNvSpPr/>
          <p:nvPr/>
        </p:nvSpPr>
        <p:spPr>
          <a:xfrm>
            <a:off x="6291072" y="3108960"/>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VCC/GND ≥ 0.5 mm wide</a:t>
            </a:r>
            <a:endParaRPr lang="en-US" sz="1050" dirty="0"/>
          </a:p>
        </p:txBody>
      </p:sp>
      <p:sp>
        <p:nvSpPr>
          <p:cNvPr id="30" name="Text 28"/>
          <p:cNvSpPr/>
          <p:nvPr/>
        </p:nvSpPr>
        <p:spPr>
          <a:xfrm>
            <a:off x="4937760" y="3438144"/>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Silkscreen:</a:t>
            </a:r>
            <a:endParaRPr lang="en-US" sz="1050" dirty="0"/>
          </a:p>
        </p:txBody>
      </p:sp>
      <p:sp>
        <p:nvSpPr>
          <p:cNvPr id="31" name="Text 29"/>
          <p:cNvSpPr/>
          <p:nvPr/>
        </p:nvSpPr>
        <p:spPr>
          <a:xfrm>
            <a:off x="6291072" y="3438144"/>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All refs labeled: U1, U2, D1–D4, R1–R5…</a:t>
            </a:r>
            <a:endParaRPr lang="en-US" sz="1050" dirty="0"/>
          </a:p>
        </p:txBody>
      </p:sp>
      <p:sp>
        <p:nvSpPr>
          <p:cNvPr id="32" name="Text 30"/>
          <p:cNvSpPr/>
          <p:nvPr/>
        </p:nvSpPr>
        <p:spPr>
          <a:xfrm>
            <a:off x="4937760" y="3767328"/>
            <a:ext cx="1371600" cy="292608"/>
          </a:xfrm>
          <a:prstGeom prst="rect">
            <a:avLst/>
          </a:prstGeom>
          <a:noFill/>
          <a:ln/>
        </p:spPr>
        <p:txBody>
          <a:bodyPr wrap="square" rtlCol="0" anchor="ctr"/>
          <a:lstStyle/>
          <a:p>
            <a:pPr marL="0" indent="0">
              <a:buNone/>
            </a:pPr>
            <a:r>
              <a:rPr lang="en-US" sz="1050" b="1" dirty="0">
                <a:solidFill>
                  <a:srgbClr val="1A2C5B"/>
                </a:solidFill>
                <a:latin typeface="Calibri" pitchFamily="34" charset="0"/>
                <a:ea typeface="Calibri" pitchFamily="34" charset="-122"/>
                <a:cs typeface="Calibri" pitchFamily="34" charset="-120"/>
              </a:rPr>
              <a:t>DRC:</a:t>
            </a:r>
            <a:endParaRPr lang="en-US" sz="1050" dirty="0"/>
          </a:p>
        </p:txBody>
      </p:sp>
      <p:sp>
        <p:nvSpPr>
          <p:cNvPr id="33" name="Text 31"/>
          <p:cNvSpPr/>
          <p:nvPr/>
        </p:nvSpPr>
        <p:spPr>
          <a:xfrm>
            <a:off x="6291072" y="3767328"/>
            <a:ext cx="2286000" cy="29260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0 Errors, 0 Warnings ✓</a:t>
            </a:r>
            <a:endParaRPr lang="en-US" sz="1050" dirty="0"/>
          </a:p>
        </p:txBody>
      </p:sp>
      <p:sp>
        <p:nvSpPr>
          <p:cNvPr id="34" name="Text 32"/>
          <p:cNvSpPr/>
          <p:nvPr/>
        </p:nvSpPr>
        <p:spPr>
          <a:xfrm>
            <a:off x="4937760" y="4133088"/>
            <a:ext cx="3566160" cy="45720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Gerber Files Generated: F_Cu  ·  B_Cu  ·  F_SilkS  ·  F_Mask  ·  B_Mask  ·  Edge_Cuts  ·  .drl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E1D7B1-CCD9-AFE0-8EE6-85BCFA257030}"/>
              </a:ext>
            </a:extLst>
          </p:cNvPr>
          <p:cNvPicPr>
            <a:picLocks noChangeAspect="1"/>
          </p:cNvPicPr>
          <p:nvPr/>
        </p:nvPicPr>
        <p:blipFill>
          <a:blip r:embed="rId2"/>
          <a:stretch>
            <a:fillRect/>
          </a:stretch>
        </p:blipFill>
        <p:spPr>
          <a:xfrm>
            <a:off x="968190" y="228479"/>
            <a:ext cx="7207620" cy="4686541"/>
          </a:xfrm>
          <a:prstGeom prst="rect">
            <a:avLst/>
          </a:prstGeom>
        </p:spPr>
      </p:pic>
    </p:spTree>
    <p:extLst>
      <p:ext uri="{BB962C8B-B14F-4D97-AF65-F5344CB8AC3E}">
        <p14:creationId xmlns:p14="http://schemas.microsoft.com/office/powerpoint/2010/main" val="3541962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09AB4B-5825-31D7-875B-04CF8C6BA48B}"/>
              </a:ext>
            </a:extLst>
          </p:cNvPr>
          <p:cNvPicPr>
            <a:picLocks noChangeAspect="1"/>
          </p:cNvPicPr>
          <p:nvPr/>
        </p:nvPicPr>
        <p:blipFill>
          <a:blip r:embed="rId2"/>
          <a:stretch>
            <a:fillRect/>
          </a:stretch>
        </p:blipFill>
        <p:spPr>
          <a:xfrm>
            <a:off x="1481638" y="134439"/>
            <a:ext cx="6955922" cy="3504372"/>
          </a:xfrm>
          <a:prstGeom prst="rect">
            <a:avLst/>
          </a:prstGeom>
        </p:spPr>
      </p:pic>
    </p:spTree>
    <p:extLst>
      <p:ext uri="{BB962C8B-B14F-4D97-AF65-F5344CB8AC3E}">
        <p14:creationId xmlns:p14="http://schemas.microsoft.com/office/powerpoint/2010/main" val="1732222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FDBC0B-5DF9-19B4-192E-C75C6E89E4C1}"/>
              </a:ext>
            </a:extLst>
          </p:cNvPr>
          <p:cNvPicPr>
            <a:picLocks noChangeAspect="1"/>
          </p:cNvPicPr>
          <p:nvPr/>
        </p:nvPicPr>
        <p:blipFill>
          <a:blip r:embed="rId2"/>
          <a:stretch>
            <a:fillRect/>
          </a:stretch>
        </p:blipFill>
        <p:spPr>
          <a:xfrm>
            <a:off x="1387311" y="853986"/>
            <a:ext cx="6861078" cy="3700742"/>
          </a:xfrm>
          <a:prstGeom prst="rect">
            <a:avLst/>
          </a:prstGeom>
        </p:spPr>
      </p:pic>
    </p:spTree>
    <p:extLst>
      <p:ext uri="{BB962C8B-B14F-4D97-AF65-F5344CB8AC3E}">
        <p14:creationId xmlns:p14="http://schemas.microsoft.com/office/powerpoint/2010/main" val="1084521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SimulIDE Simulation Results</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Text 2"/>
          <p:cNvSpPr/>
          <p:nvPr/>
        </p:nvSpPr>
        <p:spPr>
          <a:xfrm>
            <a:off x="502920" y="822960"/>
            <a:ext cx="813816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LM35 model not available in SimulIDE — potentiometer used to simulate equivalent sensor voltage</a:t>
            </a:r>
            <a:endParaRPr lang="en-US" sz="1000" dirty="0"/>
          </a:p>
        </p:txBody>
      </p:sp>
      <p:sp>
        <p:nvSpPr>
          <p:cNvPr id="5" name="Shape 3"/>
          <p:cNvSpPr/>
          <p:nvPr/>
        </p:nvSpPr>
        <p:spPr>
          <a:xfrm>
            <a:off x="384048" y="1188720"/>
            <a:ext cx="1993392" cy="3611880"/>
          </a:xfrm>
          <a:prstGeom prst="roundRect">
            <a:avLst>
              <a:gd name="adj" fmla="val 4587"/>
            </a:avLst>
          </a:prstGeom>
          <a:solidFill>
            <a:srgbClr val="E8F8EF"/>
          </a:solidFill>
          <a:ln w="19050">
            <a:solidFill>
              <a:srgbClr val="27AE60"/>
            </a:solidFill>
            <a:prstDash val="solid"/>
          </a:ln>
          <a:effectLst>
            <a:outerShdw blurRad="101600" dist="38100" dir="2700000" algn="bl" rotWithShape="0">
              <a:srgbClr val="000000">
                <a:alpha val="12000"/>
              </a:srgbClr>
            </a:outerShdw>
          </a:effectLst>
        </p:spPr>
      </p:sp>
      <p:sp>
        <p:nvSpPr>
          <p:cNvPr id="6" name="Shape 4"/>
          <p:cNvSpPr/>
          <p:nvPr/>
        </p:nvSpPr>
        <p:spPr>
          <a:xfrm>
            <a:off x="384048" y="1188720"/>
            <a:ext cx="1993392" cy="566928"/>
          </a:xfrm>
          <a:prstGeom prst="roundRect">
            <a:avLst>
              <a:gd name="adj" fmla="val 16129"/>
            </a:avLst>
          </a:prstGeom>
          <a:solidFill>
            <a:srgbClr val="27AE60"/>
          </a:solidFill>
          <a:ln w="12700">
            <a:solidFill>
              <a:srgbClr val="27AE60"/>
            </a:solidFill>
            <a:prstDash val="solid"/>
          </a:ln>
        </p:spPr>
      </p:sp>
      <p:sp>
        <p:nvSpPr>
          <p:cNvPr id="7" name="Text 5"/>
          <p:cNvSpPr/>
          <p:nvPr/>
        </p:nvSpPr>
        <p:spPr>
          <a:xfrm>
            <a:off x="384048" y="1225296"/>
            <a:ext cx="1993392"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TC-01</a:t>
            </a:r>
            <a:endParaRPr lang="en-US" sz="1100" dirty="0"/>
          </a:p>
        </p:txBody>
      </p:sp>
      <p:sp>
        <p:nvSpPr>
          <p:cNvPr id="8" name="Text 6"/>
          <p:cNvSpPr/>
          <p:nvPr/>
        </p:nvSpPr>
        <p:spPr>
          <a:xfrm>
            <a:off x="384048" y="1481328"/>
            <a:ext cx="1993392" cy="2286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Low Temperature</a:t>
            </a:r>
            <a:endParaRPr lang="en-US" sz="950" dirty="0"/>
          </a:p>
        </p:txBody>
      </p:sp>
      <p:sp>
        <p:nvSpPr>
          <p:cNvPr id="9" name="Text 7"/>
          <p:cNvSpPr/>
          <p:nvPr/>
        </p:nvSpPr>
        <p:spPr>
          <a:xfrm>
            <a:off x="475488" y="1847088"/>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Input:</a:t>
            </a:r>
            <a:endParaRPr lang="en-US" sz="950" dirty="0"/>
          </a:p>
        </p:txBody>
      </p:sp>
      <p:sp>
        <p:nvSpPr>
          <p:cNvPr id="10" name="Text 8"/>
          <p:cNvSpPr/>
          <p:nvPr/>
        </p:nvSpPr>
        <p:spPr>
          <a:xfrm>
            <a:off x="1179576" y="1847088"/>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~0.20 V</a:t>
            </a:r>
            <a:endParaRPr lang="en-US" sz="950" dirty="0"/>
          </a:p>
        </p:txBody>
      </p:sp>
      <p:sp>
        <p:nvSpPr>
          <p:cNvPr id="11" name="Text 9"/>
          <p:cNvSpPr/>
          <p:nvPr/>
        </p:nvSpPr>
        <p:spPr>
          <a:xfrm>
            <a:off x="475488" y="2359152"/>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ADC Count:</a:t>
            </a:r>
            <a:endParaRPr lang="en-US" sz="950" dirty="0"/>
          </a:p>
        </p:txBody>
      </p:sp>
      <p:sp>
        <p:nvSpPr>
          <p:cNvPr id="12" name="Text 10"/>
          <p:cNvSpPr/>
          <p:nvPr/>
        </p:nvSpPr>
        <p:spPr>
          <a:xfrm>
            <a:off x="1179576" y="2359152"/>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~41</a:t>
            </a:r>
            <a:endParaRPr lang="en-US" sz="950" dirty="0"/>
          </a:p>
        </p:txBody>
      </p:sp>
      <p:sp>
        <p:nvSpPr>
          <p:cNvPr id="13" name="Text 11"/>
          <p:cNvSpPr/>
          <p:nvPr/>
        </p:nvSpPr>
        <p:spPr>
          <a:xfrm>
            <a:off x="475488" y="2871216"/>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Temp:</a:t>
            </a:r>
            <a:endParaRPr lang="en-US" sz="950" dirty="0"/>
          </a:p>
        </p:txBody>
      </p:sp>
      <p:sp>
        <p:nvSpPr>
          <p:cNvPr id="14" name="Text 12"/>
          <p:cNvSpPr/>
          <p:nvPr/>
        </p:nvSpPr>
        <p:spPr>
          <a:xfrm>
            <a:off x="1179576" y="2871216"/>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~20°C</a:t>
            </a:r>
            <a:endParaRPr lang="en-US" sz="950" dirty="0"/>
          </a:p>
        </p:txBody>
      </p:sp>
      <p:sp>
        <p:nvSpPr>
          <p:cNvPr id="15" name="Text 13"/>
          <p:cNvSpPr/>
          <p:nvPr/>
        </p:nvSpPr>
        <p:spPr>
          <a:xfrm>
            <a:off x="475488" y="3383280"/>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LED:</a:t>
            </a:r>
            <a:endParaRPr lang="en-US" sz="950" dirty="0"/>
          </a:p>
        </p:txBody>
      </p:sp>
      <p:sp>
        <p:nvSpPr>
          <p:cNvPr id="16" name="Text 14"/>
          <p:cNvSpPr/>
          <p:nvPr/>
        </p:nvSpPr>
        <p:spPr>
          <a:xfrm>
            <a:off x="1179576" y="3383280"/>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Green/Blue LED ON</a:t>
            </a:r>
            <a:endParaRPr lang="en-US" sz="950" dirty="0"/>
          </a:p>
        </p:txBody>
      </p:sp>
      <p:sp>
        <p:nvSpPr>
          <p:cNvPr id="17" name="Text 15"/>
          <p:cNvSpPr/>
          <p:nvPr/>
        </p:nvSpPr>
        <p:spPr>
          <a:xfrm>
            <a:off x="475488" y="3895344"/>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Buzzer:</a:t>
            </a:r>
            <a:endParaRPr lang="en-US" sz="950" dirty="0"/>
          </a:p>
        </p:txBody>
      </p:sp>
      <p:sp>
        <p:nvSpPr>
          <p:cNvPr id="18" name="Text 16"/>
          <p:cNvSpPr/>
          <p:nvPr/>
        </p:nvSpPr>
        <p:spPr>
          <a:xfrm>
            <a:off x="1179576" y="3895344"/>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Buzzer OFF</a:t>
            </a:r>
            <a:endParaRPr lang="en-US" sz="950" dirty="0"/>
          </a:p>
        </p:txBody>
      </p:sp>
      <p:sp>
        <p:nvSpPr>
          <p:cNvPr id="19" name="Shape 17"/>
          <p:cNvSpPr/>
          <p:nvPr/>
        </p:nvSpPr>
        <p:spPr>
          <a:xfrm>
            <a:off x="704088" y="4389120"/>
            <a:ext cx="1353312" cy="292608"/>
          </a:xfrm>
          <a:prstGeom prst="roundRect">
            <a:avLst>
              <a:gd name="adj" fmla="val 18750"/>
            </a:avLst>
          </a:prstGeom>
          <a:solidFill>
            <a:srgbClr val="27AE60"/>
          </a:solidFill>
          <a:ln w="12700">
            <a:solidFill>
              <a:srgbClr val="27AE60"/>
            </a:solidFill>
            <a:prstDash val="solid"/>
          </a:ln>
        </p:spPr>
      </p:sp>
      <p:sp>
        <p:nvSpPr>
          <p:cNvPr id="20" name="Text 18"/>
          <p:cNvSpPr/>
          <p:nvPr/>
        </p:nvSpPr>
        <p:spPr>
          <a:xfrm>
            <a:off x="704088" y="4389120"/>
            <a:ext cx="13533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PASS</a:t>
            </a:r>
            <a:endParaRPr lang="en-US" sz="1100" dirty="0"/>
          </a:p>
        </p:txBody>
      </p:sp>
      <p:sp>
        <p:nvSpPr>
          <p:cNvPr id="21" name="Shape 19"/>
          <p:cNvSpPr/>
          <p:nvPr/>
        </p:nvSpPr>
        <p:spPr>
          <a:xfrm>
            <a:off x="2578608" y="1188720"/>
            <a:ext cx="1993392" cy="3611880"/>
          </a:xfrm>
          <a:prstGeom prst="roundRect">
            <a:avLst>
              <a:gd name="adj" fmla="val 4587"/>
            </a:avLst>
          </a:prstGeom>
          <a:solidFill>
            <a:srgbClr val="FEF9EC"/>
          </a:solidFill>
          <a:ln w="19050">
            <a:solidFill>
              <a:srgbClr val="F39C12"/>
            </a:solidFill>
            <a:prstDash val="solid"/>
          </a:ln>
          <a:effectLst>
            <a:outerShdw blurRad="101600" dist="38100" dir="2700000" algn="bl" rotWithShape="0">
              <a:srgbClr val="000000">
                <a:alpha val="12000"/>
              </a:srgbClr>
            </a:outerShdw>
          </a:effectLst>
        </p:spPr>
      </p:sp>
      <p:sp>
        <p:nvSpPr>
          <p:cNvPr id="22" name="Shape 20"/>
          <p:cNvSpPr/>
          <p:nvPr/>
        </p:nvSpPr>
        <p:spPr>
          <a:xfrm>
            <a:off x="2578608" y="1188720"/>
            <a:ext cx="1993392" cy="566928"/>
          </a:xfrm>
          <a:prstGeom prst="roundRect">
            <a:avLst>
              <a:gd name="adj" fmla="val 16129"/>
            </a:avLst>
          </a:prstGeom>
          <a:solidFill>
            <a:srgbClr val="F39C12"/>
          </a:solidFill>
          <a:ln w="12700">
            <a:solidFill>
              <a:srgbClr val="F39C12"/>
            </a:solidFill>
            <a:prstDash val="solid"/>
          </a:ln>
        </p:spPr>
      </p:sp>
      <p:sp>
        <p:nvSpPr>
          <p:cNvPr id="23" name="Text 21"/>
          <p:cNvSpPr/>
          <p:nvPr/>
        </p:nvSpPr>
        <p:spPr>
          <a:xfrm>
            <a:off x="2578608" y="1225296"/>
            <a:ext cx="1993392"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TC-02</a:t>
            </a:r>
            <a:endParaRPr lang="en-US" sz="1100" dirty="0"/>
          </a:p>
        </p:txBody>
      </p:sp>
      <p:sp>
        <p:nvSpPr>
          <p:cNvPr id="24" name="Text 22"/>
          <p:cNvSpPr/>
          <p:nvPr/>
        </p:nvSpPr>
        <p:spPr>
          <a:xfrm>
            <a:off x="2578608" y="1481328"/>
            <a:ext cx="1993392" cy="2286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Normal Temperature</a:t>
            </a:r>
            <a:endParaRPr lang="en-US" sz="950" dirty="0"/>
          </a:p>
        </p:txBody>
      </p:sp>
      <p:sp>
        <p:nvSpPr>
          <p:cNvPr id="25" name="Text 23"/>
          <p:cNvSpPr/>
          <p:nvPr/>
        </p:nvSpPr>
        <p:spPr>
          <a:xfrm>
            <a:off x="2670048" y="1847088"/>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Input:</a:t>
            </a:r>
            <a:endParaRPr lang="en-US" sz="950" dirty="0"/>
          </a:p>
        </p:txBody>
      </p:sp>
      <p:sp>
        <p:nvSpPr>
          <p:cNvPr id="26" name="Text 24"/>
          <p:cNvSpPr/>
          <p:nvPr/>
        </p:nvSpPr>
        <p:spPr>
          <a:xfrm>
            <a:off x="3374136" y="1847088"/>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~0.30 V</a:t>
            </a:r>
            <a:endParaRPr lang="en-US" sz="950" dirty="0"/>
          </a:p>
        </p:txBody>
      </p:sp>
      <p:sp>
        <p:nvSpPr>
          <p:cNvPr id="27" name="Text 25"/>
          <p:cNvSpPr/>
          <p:nvPr/>
        </p:nvSpPr>
        <p:spPr>
          <a:xfrm>
            <a:off x="2670048" y="2359152"/>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ADC Count:</a:t>
            </a:r>
            <a:endParaRPr lang="en-US" sz="950" dirty="0"/>
          </a:p>
        </p:txBody>
      </p:sp>
      <p:sp>
        <p:nvSpPr>
          <p:cNvPr id="28" name="Text 26"/>
          <p:cNvSpPr/>
          <p:nvPr/>
        </p:nvSpPr>
        <p:spPr>
          <a:xfrm>
            <a:off x="3374136" y="2359152"/>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~61</a:t>
            </a:r>
            <a:endParaRPr lang="en-US" sz="950" dirty="0"/>
          </a:p>
        </p:txBody>
      </p:sp>
      <p:sp>
        <p:nvSpPr>
          <p:cNvPr id="29" name="Text 27"/>
          <p:cNvSpPr/>
          <p:nvPr/>
        </p:nvSpPr>
        <p:spPr>
          <a:xfrm>
            <a:off x="2670048" y="2871216"/>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Temp:</a:t>
            </a:r>
            <a:endParaRPr lang="en-US" sz="950" dirty="0"/>
          </a:p>
        </p:txBody>
      </p:sp>
      <p:sp>
        <p:nvSpPr>
          <p:cNvPr id="30" name="Text 28"/>
          <p:cNvSpPr/>
          <p:nvPr/>
        </p:nvSpPr>
        <p:spPr>
          <a:xfrm>
            <a:off x="3374136" y="2871216"/>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~30°C</a:t>
            </a:r>
            <a:endParaRPr lang="en-US" sz="950" dirty="0"/>
          </a:p>
        </p:txBody>
      </p:sp>
      <p:sp>
        <p:nvSpPr>
          <p:cNvPr id="31" name="Text 29"/>
          <p:cNvSpPr/>
          <p:nvPr/>
        </p:nvSpPr>
        <p:spPr>
          <a:xfrm>
            <a:off x="2670048" y="3383280"/>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LED:</a:t>
            </a:r>
            <a:endParaRPr lang="en-US" sz="950" dirty="0"/>
          </a:p>
        </p:txBody>
      </p:sp>
      <p:sp>
        <p:nvSpPr>
          <p:cNvPr id="32" name="Text 30"/>
          <p:cNvSpPr/>
          <p:nvPr/>
        </p:nvSpPr>
        <p:spPr>
          <a:xfrm>
            <a:off x="3374136" y="3383280"/>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Yellow LED ON</a:t>
            </a:r>
            <a:endParaRPr lang="en-US" sz="950" dirty="0"/>
          </a:p>
        </p:txBody>
      </p:sp>
      <p:sp>
        <p:nvSpPr>
          <p:cNvPr id="33" name="Text 31"/>
          <p:cNvSpPr/>
          <p:nvPr/>
        </p:nvSpPr>
        <p:spPr>
          <a:xfrm>
            <a:off x="2670048" y="3895344"/>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Buzzer:</a:t>
            </a:r>
            <a:endParaRPr lang="en-US" sz="950" dirty="0"/>
          </a:p>
        </p:txBody>
      </p:sp>
      <p:sp>
        <p:nvSpPr>
          <p:cNvPr id="34" name="Text 32"/>
          <p:cNvSpPr/>
          <p:nvPr/>
        </p:nvSpPr>
        <p:spPr>
          <a:xfrm>
            <a:off x="3374136" y="3895344"/>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Buzzer OFF</a:t>
            </a:r>
            <a:endParaRPr lang="en-US" sz="950" dirty="0"/>
          </a:p>
        </p:txBody>
      </p:sp>
      <p:sp>
        <p:nvSpPr>
          <p:cNvPr id="35" name="Shape 33"/>
          <p:cNvSpPr/>
          <p:nvPr/>
        </p:nvSpPr>
        <p:spPr>
          <a:xfrm>
            <a:off x="2898648" y="4389120"/>
            <a:ext cx="1353312" cy="292608"/>
          </a:xfrm>
          <a:prstGeom prst="roundRect">
            <a:avLst>
              <a:gd name="adj" fmla="val 18750"/>
            </a:avLst>
          </a:prstGeom>
          <a:solidFill>
            <a:srgbClr val="F39C12"/>
          </a:solidFill>
          <a:ln w="12700">
            <a:solidFill>
              <a:srgbClr val="F39C12"/>
            </a:solidFill>
            <a:prstDash val="solid"/>
          </a:ln>
        </p:spPr>
      </p:sp>
      <p:sp>
        <p:nvSpPr>
          <p:cNvPr id="36" name="Text 34"/>
          <p:cNvSpPr/>
          <p:nvPr/>
        </p:nvSpPr>
        <p:spPr>
          <a:xfrm>
            <a:off x="2898648" y="4389120"/>
            <a:ext cx="13533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PASS</a:t>
            </a:r>
            <a:endParaRPr lang="en-US" sz="1100" dirty="0"/>
          </a:p>
        </p:txBody>
      </p:sp>
      <p:sp>
        <p:nvSpPr>
          <p:cNvPr id="37" name="Shape 35"/>
          <p:cNvSpPr/>
          <p:nvPr/>
        </p:nvSpPr>
        <p:spPr>
          <a:xfrm>
            <a:off x="4773168" y="1188720"/>
            <a:ext cx="1993392" cy="3611880"/>
          </a:xfrm>
          <a:prstGeom prst="roundRect">
            <a:avLst>
              <a:gd name="adj" fmla="val 4587"/>
            </a:avLst>
          </a:prstGeom>
          <a:solidFill>
            <a:srgbClr val="FDECEA"/>
          </a:solidFill>
          <a:ln w="19050">
            <a:solidFill>
              <a:srgbClr val="C0392B"/>
            </a:solidFill>
            <a:prstDash val="solid"/>
          </a:ln>
          <a:effectLst>
            <a:outerShdw blurRad="101600" dist="38100" dir="2700000" algn="bl" rotWithShape="0">
              <a:srgbClr val="000000">
                <a:alpha val="12000"/>
              </a:srgbClr>
            </a:outerShdw>
          </a:effectLst>
        </p:spPr>
      </p:sp>
      <p:sp>
        <p:nvSpPr>
          <p:cNvPr id="38" name="Shape 36"/>
          <p:cNvSpPr/>
          <p:nvPr/>
        </p:nvSpPr>
        <p:spPr>
          <a:xfrm>
            <a:off x="4773168" y="1188720"/>
            <a:ext cx="1993392" cy="566928"/>
          </a:xfrm>
          <a:prstGeom prst="roundRect">
            <a:avLst>
              <a:gd name="adj" fmla="val 16129"/>
            </a:avLst>
          </a:prstGeom>
          <a:solidFill>
            <a:srgbClr val="C0392B"/>
          </a:solidFill>
          <a:ln w="12700">
            <a:solidFill>
              <a:srgbClr val="C0392B"/>
            </a:solidFill>
            <a:prstDash val="solid"/>
          </a:ln>
        </p:spPr>
      </p:sp>
      <p:sp>
        <p:nvSpPr>
          <p:cNvPr id="39" name="Text 37"/>
          <p:cNvSpPr/>
          <p:nvPr/>
        </p:nvSpPr>
        <p:spPr>
          <a:xfrm>
            <a:off x="4773168" y="1225296"/>
            <a:ext cx="1993392"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TC-03</a:t>
            </a:r>
            <a:endParaRPr lang="en-US" sz="1100" dirty="0"/>
          </a:p>
        </p:txBody>
      </p:sp>
      <p:sp>
        <p:nvSpPr>
          <p:cNvPr id="40" name="Text 38"/>
          <p:cNvSpPr/>
          <p:nvPr/>
        </p:nvSpPr>
        <p:spPr>
          <a:xfrm>
            <a:off x="4773168" y="1481328"/>
            <a:ext cx="1993392" cy="2286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High Temperature</a:t>
            </a:r>
            <a:endParaRPr lang="en-US" sz="950" dirty="0"/>
          </a:p>
        </p:txBody>
      </p:sp>
      <p:sp>
        <p:nvSpPr>
          <p:cNvPr id="41" name="Text 39"/>
          <p:cNvSpPr/>
          <p:nvPr/>
        </p:nvSpPr>
        <p:spPr>
          <a:xfrm>
            <a:off x="4864608" y="1847088"/>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Input:</a:t>
            </a:r>
            <a:endParaRPr lang="en-US" sz="950" dirty="0"/>
          </a:p>
        </p:txBody>
      </p:sp>
      <p:sp>
        <p:nvSpPr>
          <p:cNvPr id="42" name="Text 40"/>
          <p:cNvSpPr/>
          <p:nvPr/>
        </p:nvSpPr>
        <p:spPr>
          <a:xfrm>
            <a:off x="5568696" y="1847088"/>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~0.40 V</a:t>
            </a:r>
            <a:endParaRPr lang="en-US" sz="950" dirty="0"/>
          </a:p>
        </p:txBody>
      </p:sp>
      <p:sp>
        <p:nvSpPr>
          <p:cNvPr id="43" name="Text 41"/>
          <p:cNvSpPr/>
          <p:nvPr/>
        </p:nvSpPr>
        <p:spPr>
          <a:xfrm>
            <a:off x="4864608" y="2359152"/>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ADC Count:</a:t>
            </a:r>
            <a:endParaRPr lang="en-US" sz="950" dirty="0"/>
          </a:p>
        </p:txBody>
      </p:sp>
      <p:sp>
        <p:nvSpPr>
          <p:cNvPr id="44" name="Text 42"/>
          <p:cNvSpPr/>
          <p:nvPr/>
        </p:nvSpPr>
        <p:spPr>
          <a:xfrm>
            <a:off x="5568696" y="2359152"/>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~82</a:t>
            </a:r>
            <a:endParaRPr lang="en-US" sz="950" dirty="0"/>
          </a:p>
        </p:txBody>
      </p:sp>
      <p:sp>
        <p:nvSpPr>
          <p:cNvPr id="45" name="Text 43"/>
          <p:cNvSpPr/>
          <p:nvPr/>
        </p:nvSpPr>
        <p:spPr>
          <a:xfrm>
            <a:off x="4864608" y="2871216"/>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Temp:</a:t>
            </a:r>
            <a:endParaRPr lang="en-US" sz="950" dirty="0"/>
          </a:p>
        </p:txBody>
      </p:sp>
      <p:sp>
        <p:nvSpPr>
          <p:cNvPr id="46" name="Text 44"/>
          <p:cNvSpPr/>
          <p:nvPr/>
        </p:nvSpPr>
        <p:spPr>
          <a:xfrm>
            <a:off x="5568696" y="2871216"/>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~40°C</a:t>
            </a:r>
            <a:endParaRPr lang="en-US" sz="950" dirty="0"/>
          </a:p>
        </p:txBody>
      </p:sp>
      <p:sp>
        <p:nvSpPr>
          <p:cNvPr id="47" name="Text 45"/>
          <p:cNvSpPr/>
          <p:nvPr/>
        </p:nvSpPr>
        <p:spPr>
          <a:xfrm>
            <a:off x="4864608" y="3383280"/>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LED:</a:t>
            </a:r>
            <a:endParaRPr lang="en-US" sz="950" dirty="0"/>
          </a:p>
        </p:txBody>
      </p:sp>
      <p:sp>
        <p:nvSpPr>
          <p:cNvPr id="48" name="Text 46"/>
          <p:cNvSpPr/>
          <p:nvPr/>
        </p:nvSpPr>
        <p:spPr>
          <a:xfrm>
            <a:off x="5568696" y="3383280"/>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Red LED ON</a:t>
            </a:r>
            <a:endParaRPr lang="en-US" sz="950" dirty="0"/>
          </a:p>
        </p:txBody>
      </p:sp>
      <p:sp>
        <p:nvSpPr>
          <p:cNvPr id="49" name="Text 47"/>
          <p:cNvSpPr/>
          <p:nvPr/>
        </p:nvSpPr>
        <p:spPr>
          <a:xfrm>
            <a:off x="4864608" y="3895344"/>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Buzzer:</a:t>
            </a:r>
            <a:endParaRPr lang="en-US" sz="950" dirty="0"/>
          </a:p>
        </p:txBody>
      </p:sp>
      <p:sp>
        <p:nvSpPr>
          <p:cNvPr id="50" name="Text 48"/>
          <p:cNvSpPr/>
          <p:nvPr/>
        </p:nvSpPr>
        <p:spPr>
          <a:xfrm>
            <a:off x="5568696" y="3895344"/>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Buzzer ON</a:t>
            </a:r>
            <a:endParaRPr lang="en-US" sz="950" dirty="0"/>
          </a:p>
        </p:txBody>
      </p:sp>
      <p:sp>
        <p:nvSpPr>
          <p:cNvPr id="51" name="Shape 49"/>
          <p:cNvSpPr/>
          <p:nvPr/>
        </p:nvSpPr>
        <p:spPr>
          <a:xfrm>
            <a:off x="5093208" y="4389120"/>
            <a:ext cx="1353312" cy="292608"/>
          </a:xfrm>
          <a:prstGeom prst="roundRect">
            <a:avLst>
              <a:gd name="adj" fmla="val 18750"/>
            </a:avLst>
          </a:prstGeom>
          <a:solidFill>
            <a:srgbClr val="C0392B"/>
          </a:solidFill>
          <a:ln w="12700">
            <a:solidFill>
              <a:srgbClr val="C0392B"/>
            </a:solidFill>
            <a:prstDash val="solid"/>
          </a:ln>
        </p:spPr>
      </p:sp>
      <p:sp>
        <p:nvSpPr>
          <p:cNvPr id="52" name="Text 50"/>
          <p:cNvSpPr/>
          <p:nvPr/>
        </p:nvSpPr>
        <p:spPr>
          <a:xfrm>
            <a:off x="5093208" y="4389120"/>
            <a:ext cx="13533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PASS</a:t>
            </a:r>
            <a:endParaRPr lang="en-US" sz="1100" dirty="0"/>
          </a:p>
        </p:txBody>
      </p:sp>
      <p:sp>
        <p:nvSpPr>
          <p:cNvPr id="53" name="Shape 51"/>
          <p:cNvSpPr/>
          <p:nvPr/>
        </p:nvSpPr>
        <p:spPr>
          <a:xfrm>
            <a:off x="6967728" y="1188720"/>
            <a:ext cx="1993392" cy="3611880"/>
          </a:xfrm>
          <a:prstGeom prst="roundRect">
            <a:avLst>
              <a:gd name="adj" fmla="val 4587"/>
            </a:avLst>
          </a:prstGeom>
          <a:solidFill>
            <a:srgbClr val="F5EEF8"/>
          </a:solidFill>
          <a:ln w="19050">
            <a:solidFill>
              <a:srgbClr val="8E44AD"/>
            </a:solidFill>
            <a:prstDash val="solid"/>
          </a:ln>
          <a:effectLst>
            <a:outerShdw blurRad="101600" dist="38100" dir="2700000" algn="bl" rotWithShape="0">
              <a:srgbClr val="000000">
                <a:alpha val="12000"/>
              </a:srgbClr>
            </a:outerShdw>
          </a:effectLst>
        </p:spPr>
      </p:sp>
      <p:sp>
        <p:nvSpPr>
          <p:cNvPr id="54" name="Shape 52"/>
          <p:cNvSpPr/>
          <p:nvPr/>
        </p:nvSpPr>
        <p:spPr>
          <a:xfrm>
            <a:off x="6967728" y="1188720"/>
            <a:ext cx="1993392" cy="566928"/>
          </a:xfrm>
          <a:prstGeom prst="roundRect">
            <a:avLst>
              <a:gd name="adj" fmla="val 16129"/>
            </a:avLst>
          </a:prstGeom>
          <a:solidFill>
            <a:srgbClr val="8E44AD"/>
          </a:solidFill>
          <a:ln w="12700">
            <a:solidFill>
              <a:srgbClr val="8E44AD"/>
            </a:solidFill>
            <a:prstDash val="solid"/>
          </a:ln>
        </p:spPr>
      </p:sp>
      <p:sp>
        <p:nvSpPr>
          <p:cNvPr id="55" name="Text 53"/>
          <p:cNvSpPr/>
          <p:nvPr/>
        </p:nvSpPr>
        <p:spPr>
          <a:xfrm>
            <a:off x="6967728" y="1225296"/>
            <a:ext cx="1993392"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TC-04</a:t>
            </a:r>
            <a:endParaRPr lang="en-US" sz="1100" dirty="0"/>
          </a:p>
        </p:txBody>
      </p:sp>
      <p:sp>
        <p:nvSpPr>
          <p:cNvPr id="56" name="Text 54"/>
          <p:cNvSpPr/>
          <p:nvPr/>
        </p:nvSpPr>
        <p:spPr>
          <a:xfrm>
            <a:off x="6967728" y="1481328"/>
            <a:ext cx="1993392" cy="2286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Sensor Error</a:t>
            </a:r>
            <a:endParaRPr lang="en-US" sz="950" dirty="0"/>
          </a:p>
        </p:txBody>
      </p:sp>
      <p:sp>
        <p:nvSpPr>
          <p:cNvPr id="57" name="Text 55"/>
          <p:cNvSpPr/>
          <p:nvPr/>
        </p:nvSpPr>
        <p:spPr>
          <a:xfrm>
            <a:off x="7059168" y="1847088"/>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Input:</a:t>
            </a:r>
            <a:endParaRPr lang="en-US" sz="950" dirty="0"/>
          </a:p>
        </p:txBody>
      </p:sp>
      <p:sp>
        <p:nvSpPr>
          <p:cNvPr id="58" name="Text 56"/>
          <p:cNvSpPr/>
          <p:nvPr/>
        </p:nvSpPr>
        <p:spPr>
          <a:xfrm>
            <a:off x="7763256" y="1847088"/>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~0 V</a:t>
            </a:r>
            <a:endParaRPr lang="en-US" sz="950" dirty="0"/>
          </a:p>
        </p:txBody>
      </p:sp>
      <p:sp>
        <p:nvSpPr>
          <p:cNvPr id="59" name="Text 57"/>
          <p:cNvSpPr/>
          <p:nvPr/>
        </p:nvSpPr>
        <p:spPr>
          <a:xfrm>
            <a:off x="7059168" y="2359152"/>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ADC Count:</a:t>
            </a:r>
            <a:endParaRPr lang="en-US" sz="950" dirty="0"/>
          </a:p>
        </p:txBody>
      </p:sp>
      <p:sp>
        <p:nvSpPr>
          <p:cNvPr id="60" name="Text 58"/>
          <p:cNvSpPr/>
          <p:nvPr/>
        </p:nvSpPr>
        <p:spPr>
          <a:xfrm>
            <a:off x="7763256" y="2359152"/>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&lt;5</a:t>
            </a:r>
            <a:endParaRPr lang="en-US" sz="950" dirty="0"/>
          </a:p>
        </p:txBody>
      </p:sp>
      <p:sp>
        <p:nvSpPr>
          <p:cNvPr id="61" name="Text 59"/>
          <p:cNvSpPr/>
          <p:nvPr/>
        </p:nvSpPr>
        <p:spPr>
          <a:xfrm>
            <a:off x="7059168" y="2871216"/>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Temp:</a:t>
            </a:r>
            <a:endParaRPr lang="en-US" sz="950" dirty="0"/>
          </a:p>
        </p:txBody>
      </p:sp>
      <p:sp>
        <p:nvSpPr>
          <p:cNvPr id="62" name="Text 60"/>
          <p:cNvSpPr/>
          <p:nvPr/>
        </p:nvSpPr>
        <p:spPr>
          <a:xfrm>
            <a:off x="7763256" y="2871216"/>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N/A</a:t>
            </a:r>
            <a:endParaRPr lang="en-US" sz="950" dirty="0"/>
          </a:p>
        </p:txBody>
      </p:sp>
      <p:sp>
        <p:nvSpPr>
          <p:cNvPr id="63" name="Text 61"/>
          <p:cNvSpPr/>
          <p:nvPr/>
        </p:nvSpPr>
        <p:spPr>
          <a:xfrm>
            <a:off x="7059168" y="3383280"/>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LED:</a:t>
            </a:r>
            <a:endParaRPr lang="en-US" sz="950" dirty="0"/>
          </a:p>
        </p:txBody>
      </p:sp>
      <p:sp>
        <p:nvSpPr>
          <p:cNvPr id="64" name="Text 62"/>
          <p:cNvSpPr/>
          <p:nvPr/>
        </p:nvSpPr>
        <p:spPr>
          <a:xfrm>
            <a:off x="7763256" y="3383280"/>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All LEDs blink</a:t>
            </a:r>
            <a:endParaRPr lang="en-US" sz="950" dirty="0"/>
          </a:p>
        </p:txBody>
      </p:sp>
      <p:sp>
        <p:nvSpPr>
          <p:cNvPr id="65" name="Text 63"/>
          <p:cNvSpPr/>
          <p:nvPr/>
        </p:nvSpPr>
        <p:spPr>
          <a:xfrm>
            <a:off x="7059168" y="3895344"/>
            <a:ext cx="713232" cy="256032"/>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Buzzer:</a:t>
            </a:r>
            <a:endParaRPr lang="en-US" sz="950" dirty="0"/>
          </a:p>
        </p:txBody>
      </p:sp>
      <p:sp>
        <p:nvSpPr>
          <p:cNvPr id="66" name="Text 64"/>
          <p:cNvSpPr/>
          <p:nvPr/>
        </p:nvSpPr>
        <p:spPr>
          <a:xfrm>
            <a:off x="7763256" y="3895344"/>
            <a:ext cx="1115568" cy="256032"/>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Error via USART</a:t>
            </a:r>
            <a:endParaRPr lang="en-US" sz="950" dirty="0"/>
          </a:p>
        </p:txBody>
      </p:sp>
      <p:sp>
        <p:nvSpPr>
          <p:cNvPr id="67" name="Shape 65"/>
          <p:cNvSpPr/>
          <p:nvPr/>
        </p:nvSpPr>
        <p:spPr>
          <a:xfrm>
            <a:off x="7287768" y="4389120"/>
            <a:ext cx="1353312" cy="292608"/>
          </a:xfrm>
          <a:prstGeom prst="roundRect">
            <a:avLst>
              <a:gd name="adj" fmla="val 18750"/>
            </a:avLst>
          </a:prstGeom>
          <a:solidFill>
            <a:srgbClr val="8E44AD"/>
          </a:solidFill>
          <a:ln w="12700">
            <a:solidFill>
              <a:srgbClr val="8E44AD"/>
            </a:solidFill>
            <a:prstDash val="solid"/>
          </a:ln>
        </p:spPr>
      </p:sp>
      <p:sp>
        <p:nvSpPr>
          <p:cNvPr id="68" name="Text 66"/>
          <p:cNvSpPr/>
          <p:nvPr/>
        </p:nvSpPr>
        <p:spPr>
          <a:xfrm>
            <a:off x="7287768" y="4389120"/>
            <a:ext cx="13533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PASS</a:t>
            </a:r>
            <a:endParaRPr lang="en-US" sz="1100" dirty="0"/>
          </a:p>
        </p:txBody>
      </p:sp>
      <p:sp>
        <p:nvSpPr>
          <p:cNvPr id="69" name="Text 67"/>
          <p:cNvSpPr/>
          <p:nvPr/>
        </p:nvSpPr>
        <p:spPr>
          <a:xfrm>
            <a:off x="502920" y="4828032"/>
            <a:ext cx="8138160" cy="228600"/>
          </a:xfrm>
          <a:prstGeom prst="rect">
            <a:avLst/>
          </a:prstGeom>
          <a:noFill/>
          <a:ln/>
        </p:spPr>
        <p:txBody>
          <a:bodyPr wrap="square"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All 8 test cases passed — including boundary tests at 25°C and 35°C, dynamic transitions, and USART serial output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ADC Calculations</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457200" y="914400"/>
            <a:ext cx="4023360" cy="2103120"/>
          </a:xfrm>
          <a:prstGeom prst="roundRect">
            <a:avLst>
              <a:gd name="adj" fmla="val 4348"/>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5" name="Text 3"/>
          <p:cNvSpPr/>
          <p:nvPr/>
        </p:nvSpPr>
        <p:spPr>
          <a:xfrm>
            <a:off x="685800" y="1005840"/>
            <a:ext cx="3566160" cy="32918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Key Formulas</a:t>
            </a:r>
            <a:endParaRPr lang="en-US" sz="1400" dirty="0"/>
          </a:p>
        </p:txBody>
      </p:sp>
      <p:sp>
        <p:nvSpPr>
          <p:cNvPr id="6" name="Text 4"/>
          <p:cNvSpPr/>
          <p:nvPr/>
        </p:nvSpPr>
        <p:spPr>
          <a:xfrm>
            <a:off x="685800" y="1426464"/>
            <a:ext cx="1554480" cy="274320"/>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ADC Resolution:</a:t>
            </a:r>
            <a:endParaRPr lang="en-US" sz="1000" dirty="0"/>
          </a:p>
        </p:txBody>
      </p:sp>
      <p:sp>
        <p:nvSpPr>
          <p:cNvPr id="7" name="Text 5"/>
          <p:cNvSpPr/>
          <p:nvPr/>
        </p:nvSpPr>
        <p:spPr>
          <a:xfrm>
            <a:off x="2286000" y="1426464"/>
            <a:ext cx="205740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5.0 V ÷ 1023 ≈ 4.887 mV / LSB</a:t>
            </a:r>
            <a:endParaRPr lang="en-US" sz="1000" dirty="0"/>
          </a:p>
        </p:txBody>
      </p:sp>
      <p:sp>
        <p:nvSpPr>
          <p:cNvPr id="8" name="Text 6"/>
          <p:cNvSpPr/>
          <p:nvPr/>
        </p:nvSpPr>
        <p:spPr>
          <a:xfrm>
            <a:off x="685800" y="1728216"/>
            <a:ext cx="1554480" cy="274320"/>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ADC from Voltage:</a:t>
            </a:r>
            <a:endParaRPr lang="en-US" sz="1000" dirty="0"/>
          </a:p>
        </p:txBody>
      </p:sp>
      <p:sp>
        <p:nvSpPr>
          <p:cNvPr id="9" name="Text 7"/>
          <p:cNvSpPr/>
          <p:nvPr/>
        </p:nvSpPr>
        <p:spPr>
          <a:xfrm>
            <a:off x="2286000" y="1728216"/>
            <a:ext cx="205740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ADC = (Vin × 1023) / 5.0</a:t>
            </a:r>
            <a:endParaRPr lang="en-US" sz="1000" dirty="0"/>
          </a:p>
        </p:txBody>
      </p:sp>
      <p:sp>
        <p:nvSpPr>
          <p:cNvPr id="10" name="Text 8"/>
          <p:cNvSpPr/>
          <p:nvPr/>
        </p:nvSpPr>
        <p:spPr>
          <a:xfrm>
            <a:off x="685800" y="2029968"/>
            <a:ext cx="1554480" cy="274320"/>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Voltage from ADC:</a:t>
            </a:r>
            <a:endParaRPr lang="en-US" sz="1000" dirty="0"/>
          </a:p>
        </p:txBody>
      </p:sp>
      <p:sp>
        <p:nvSpPr>
          <p:cNvPr id="11" name="Text 9"/>
          <p:cNvSpPr/>
          <p:nvPr/>
        </p:nvSpPr>
        <p:spPr>
          <a:xfrm>
            <a:off x="2286000" y="2029968"/>
            <a:ext cx="205740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Vin = (ADC × 5.0) / 1023</a:t>
            </a:r>
            <a:endParaRPr lang="en-US" sz="1000" dirty="0"/>
          </a:p>
        </p:txBody>
      </p:sp>
      <p:sp>
        <p:nvSpPr>
          <p:cNvPr id="12" name="Text 10"/>
          <p:cNvSpPr/>
          <p:nvPr/>
        </p:nvSpPr>
        <p:spPr>
          <a:xfrm>
            <a:off x="685800" y="2331720"/>
            <a:ext cx="1554480" cy="274320"/>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Temp from Voltage:</a:t>
            </a:r>
            <a:endParaRPr lang="en-US" sz="1000" dirty="0"/>
          </a:p>
        </p:txBody>
      </p:sp>
      <p:sp>
        <p:nvSpPr>
          <p:cNvPr id="13" name="Text 11"/>
          <p:cNvSpPr/>
          <p:nvPr/>
        </p:nvSpPr>
        <p:spPr>
          <a:xfrm>
            <a:off x="2286000" y="2331720"/>
            <a:ext cx="205740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T°C = Vin / 0.010  (LM35: 10 mV/°C)</a:t>
            </a:r>
            <a:endParaRPr lang="en-US" sz="1000" dirty="0"/>
          </a:p>
        </p:txBody>
      </p:sp>
      <p:sp>
        <p:nvSpPr>
          <p:cNvPr id="14" name="Text 12"/>
          <p:cNvSpPr/>
          <p:nvPr/>
        </p:nvSpPr>
        <p:spPr>
          <a:xfrm>
            <a:off x="685800" y="2633472"/>
            <a:ext cx="1554480" cy="274320"/>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Combined Formula:</a:t>
            </a:r>
            <a:endParaRPr lang="en-US" sz="1000" dirty="0"/>
          </a:p>
        </p:txBody>
      </p:sp>
      <p:sp>
        <p:nvSpPr>
          <p:cNvPr id="15" name="Text 13"/>
          <p:cNvSpPr/>
          <p:nvPr/>
        </p:nvSpPr>
        <p:spPr>
          <a:xfrm>
            <a:off x="2286000" y="2633472"/>
            <a:ext cx="205740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T°C = (ADC × 500) / 1023</a:t>
            </a:r>
            <a:endParaRPr lang="en-US" sz="1000" dirty="0"/>
          </a:p>
        </p:txBody>
      </p:sp>
      <p:sp>
        <p:nvSpPr>
          <p:cNvPr id="16" name="Shape 14"/>
          <p:cNvSpPr/>
          <p:nvPr/>
        </p:nvSpPr>
        <p:spPr>
          <a:xfrm>
            <a:off x="457200" y="3154680"/>
            <a:ext cx="4023360" cy="1691640"/>
          </a:xfrm>
          <a:prstGeom prst="roundRect">
            <a:avLst>
              <a:gd name="adj" fmla="val 5405"/>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7" name="Text 15"/>
          <p:cNvSpPr/>
          <p:nvPr/>
        </p:nvSpPr>
        <p:spPr>
          <a:xfrm>
            <a:off x="685800" y="3246120"/>
            <a:ext cx="3566160" cy="320040"/>
          </a:xfrm>
          <a:prstGeom prst="rect">
            <a:avLst/>
          </a:prstGeom>
          <a:noFill/>
          <a:ln/>
        </p:spPr>
        <p:txBody>
          <a:bodyPr wrap="square"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Worked Example – 30°C</a:t>
            </a:r>
            <a:endParaRPr lang="en-US" sz="1300" dirty="0"/>
          </a:p>
        </p:txBody>
      </p:sp>
      <p:sp>
        <p:nvSpPr>
          <p:cNvPr id="18" name="Text 16"/>
          <p:cNvSpPr/>
          <p:nvPr/>
        </p:nvSpPr>
        <p:spPr>
          <a:xfrm>
            <a:off x="685800" y="3611880"/>
            <a:ext cx="3611880" cy="10972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Step 1:  V_in  = 30°C × 10 mV/°C  =  300 mV  =  0.300 V</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Step 2:  ADC  = (0.300 × 1023) / 5.0  ≈  61 counts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Step 3:  T     = (61 × 500) / 1023  =  30500 / 1023  ≈  29.8°C  ✓</a:t>
            </a:r>
            <a:endParaRPr lang="en-US" sz="1050" dirty="0"/>
          </a:p>
        </p:txBody>
      </p:sp>
      <p:sp>
        <p:nvSpPr>
          <p:cNvPr id="19" name="Shape 17"/>
          <p:cNvSpPr/>
          <p:nvPr/>
        </p:nvSpPr>
        <p:spPr>
          <a:xfrm>
            <a:off x="4663440" y="914400"/>
            <a:ext cx="4160520" cy="3931920"/>
          </a:xfrm>
          <a:prstGeom prst="roundRect">
            <a:avLst>
              <a:gd name="adj" fmla="val 2326"/>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0" name="Text 18"/>
          <p:cNvSpPr/>
          <p:nvPr/>
        </p:nvSpPr>
        <p:spPr>
          <a:xfrm>
            <a:off x="4892040" y="1005840"/>
            <a:ext cx="3749040" cy="329184"/>
          </a:xfrm>
          <a:prstGeom prst="rect">
            <a:avLst/>
          </a:prstGeom>
          <a:noFill/>
          <a:ln/>
        </p:spPr>
        <p:txBody>
          <a:bodyPr wrap="square" rtlCol="0" anchor="ctr"/>
          <a:lstStyle/>
          <a:p>
            <a:pPr marL="0" indent="0">
              <a:buNone/>
            </a:pPr>
            <a:r>
              <a:rPr lang="en-US" sz="1300" b="1" dirty="0">
                <a:solidFill>
                  <a:srgbClr val="1A2C5B"/>
                </a:solidFill>
                <a:latin typeface="Cambria" pitchFamily="34" charset="0"/>
                <a:ea typeface="Cambria" pitchFamily="34" charset="-122"/>
                <a:cs typeface="Cambria" pitchFamily="34" charset="-120"/>
              </a:rPr>
              <a:t>Conversion Table</a:t>
            </a:r>
            <a:endParaRPr lang="en-US" sz="1300" dirty="0"/>
          </a:p>
        </p:txBody>
      </p:sp>
      <p:sp>
        <p:nvSpPr>
          <p:cNvPr id="21" name="Shape 19"/>
          <p:cNvSpPr/>
          <p:nvPr/>
        </p:nvSpPr>
        <p:spPr>
          <a:xfrm>
            <a:off x="4754880" y="1417320"/>
            <a:ext cx="1005840" cy="310896"/>
          </a:xfrm>
          <a:prstGeom prst="rect">
            <a:avLst/>
          </a:prstGeom>
          <a:solidFill>
            <a:srgbClr val="1A2C5B"/>
          </a:solidFill>
          <a:ln w="12700">
            <a:solidFill>
              <a:srgbClr val="1A2C5B"/>
            </a:solidFill>
            <a:prstDash val="solid"/>
          </a:ln>
        </p:spPr>
      </p:sp>
      <p:sp>
        <p:nvSpPr>
          <p:cNvPr id="22" name="Text 20"/>
          <p:cNvSpPr/>
          <p:nvPr/>
        </p:nvSpPr>
        <p:spPr>
          <a:xfrm>
            <a:off x="4791456" y="1453896"/>
            <a:ext cx="932688"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Temp (°C)</a:t>
            </a:r>
            <a:endParaRPr lang="en-US" sz="950" dirty="0"/>
          </a:p>
        </p:txBody>
      </p:sp>
      <p:sp>
        <p:nvSpPr>
          <p:cNvPr id="23" name="Shape 21"/>
          <p:cNvSpPr/>
          <p:nvPr/>
        </p:nvSpPr>
        <p:spPr>
          <a:xfrm>
            <a:off x="5779008" y="1417320"/>
            <a:ext cx="1005840" cy="310896"/>
          </a:xfrm>
          <a:prstGeom prst="rect">
            <a:avLst/>
          </a:prstGeom>
          <a:solidFill>
            <a:srgbClr val="1A2C5B"/>
          </a:solidFill>
          <a:ln w="12700">
            <a:solidFill>
              <a:srgbClr val="1A2C5B"/>
            </a:solidFill>
            <a:prstDash val="solid"/>
          </a:ln>
        </p:spPr>
      </p:sp>
      <p:sp>
        <p:nvSpPr>
          <p:cNvPr id="24" name="Text 22"/>
          <p:cNvSpPr/>
          <p:nvPr/>
        </p:nvSpPr>
        <p:spPr>
          <a:xfrm>
            <a:off x="5815584" y="1453896"/>
            <a:ext cx="932688"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LM35 (mV)</a:t>
            </a:r>
            <a:endParaRPr lang="en-US" sz="950" dirty="0"/>
          </a:p>
        </p:txBody>
      </p:sp>
      <p:sp>
        <p:nvSpPr>
          <p:cNvPr id="25" name="Shape 23"/>
          <p:cNvSpPr/>
          <p:nvPr/>
        </p:nvSpPr>
        <p:spPr>
          <a:xfrm>
            <a:off x="6803136" y="1417320"/>
            <a:ext cx="1005840" cy="310896"/>
          </a:xfrm>
          <a:prstGeom prst="rect">
            <a:avLst/>
          </a:prstGeom>
          <a:solidFill>
            <a:srgbClr val="1A2C5B"/>
          </a:solidFill>
          <a:ln w="12700">
            <a:solidFill>
              <a:srgbClr val="1A2C5B"/>
            </a:solidFill>
            <a:prstDash val="solid"/>
          </a:ln>
        </p:spPr>
      </p:sp>
      <p:sp>
        <p:nvSpPr>
          <p:cNvPr id="26" name="Text 24"/>
          <p:cNvSpPr/>
          <p:nvPr/>
        </p:nvSpPr>
        <p:spPr>
          <a:xfrm>
            <a:off x="6839712" y="1453896"/>
            <a:ext cx="932688"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ADC Count</a:t>
            </a:r>
            <a:endParaRPr lang="en-US" sz="950" dirty="0"/>
          </a:p>
        </p:txBody>
      </p:sp>
      <p:sp>
        <p:nvSpPr>
          <p:cNvPr id="27" name="Shape 25"/>
          <p:cNvSpPr/>
          <p:nvPr/>
        </p:nvSpPr>
        <p:spPr>
          <a:xfrm>
            <a:off x="7827264" y="1417320"/>
            <a:ext cx="1005840" cy="310896"/>
          </a:xfrm>
          <a:prstGeom prst="rect">
            <a:avLst/>
          </a:prstGeom>
          <a:solidFill>
            <a:srgbClr val="1A2C5B"/>
          </a:solidFill>
          <a:ln w="12700">
            <a:solidFill>
              <a:srgbClr val="1A2C5B"/>
            </a:solidFill>
            <a:prstDash val="solid"/>
          </a:ln>
        </p:spPr>
      </p:sp>
      <p:sp>
        <p:nvSpPr>
          <p:cNvPr id="28" name="Text 26"/>
          <p:cNvSpPr/>
          <p:nvPr/>
        </p:nvSpPr>
        <p:spPr>
          <a:xfrm>
            <a:off x="7863840" y="1453896"/>
            <a:ext cx="932688"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Firmware °C</a:t>
            </a:r>
            <a:endParaRPr lang="en-US" sz="950" dirty="0"/>
          </a:p>
        </p:txBody>
      </p:sp>
      <p:sp>
        <p:nvSpPr>
          <p:cNvPr id="29" name="Text 27"/>
          <p:cNvSpPr/>
          <p:nvPr/>
        </p:nvSpPr>
        <p:spPr>
          <a:xfrm>
            <a:off x="4791456" y="180136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0°C</a:t>
            </a:r>
            <a:endParaRPr lang="en-US" sz="1000" dirty="0"/>
          </a:p>
        </p:txBody>
      </p:sp>
      <p:sp>
        <p:nvSpPr>
          <p:cNvPr id="30" name="Text 28"/>
          <p:cNvSpPr/>
          <p:nvPr/>
        </p:nvSpPr>
        <p:spPr>
          <a:xfrm>
            <a:off x="5815584" y="180136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 mV</a:t>
            </a:r>
            <a:endParaRPr lang="en-US" sz="1000" dirty="0"/>
          </a:p>
        </p:txBody>
      </p:sp>
      <p:sp>
        <p:nvSpPr>
          <p:cNvPr id="31" name="Text 29"/>
          <p:cNvSpPr/>
          <p:nvPr/>
        </p:nvSpPr>
        <p:spPr>
          <a:xfrm>
            <a:off x="6839712" y="180136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a:t>
            </a:r>
            <a:endParaRPr lang="en-US" sz="1000" dirty="0"/>
          </a:p>
        </p:txBody>
      </p:sp>
      <p:sp>
        <p:nvSpPr>
          <p:cNvPr id="32" name="Text 30"/>
          <p:cNvSpPr/>
          <p:nvPr/>
        </p:nvSpPr>
        <p:spPr>
          <a:xfrm>
            <a:off x="7863840" y="180136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0°C</a:t>
            </a:r>
            <a:endParaRPr lang="en-US" sz="1000" dirty="0"/>
          </a:p>
        </p:txBody>
      </p:sp>
      <p:sp>
        <p:nvSpPr>
          <p:cNvPr id="33" name="Shape 31"/>
          <p:cNvSpPr/>
          <p:nvPr/>
        </p:nvSpPr>
        <p:spPr>
          <a:xfrm>
            <a:off x="4754880" y="2112264"/>
            <a:ext cx="1005840" cy="310896"/>
          </a:xfrm>
          <a:prstGeom prst="rect">
            <a:avLst/>
          </a:prstGeom>
          <a:solidFill>
            <a:srgbClr val="F0F4F8"/>
          </a:solidFill>
          <a:ln w="6350">
            <a:solidFill>
              <a:srgbClr val="D6E8F0"/>
            </a:solidFill>
            <a:prstDash val="solid"/>
          </a:ln>
        </p:spPr>
      </p:sp>
      <p:sp>
        <p:nvSpPr>
          <p:cNvPr id="34" name="Text 32"/>
          <p:cNvSpPr/>
          <p:nvPr/>
        </p:nvSpPr>
        <p:spPr>
          <a:xfrm>
            <a:off x="4791456" y="214884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20°C</a:t>
            </a:r>
            <a:endParaRPr lang="en-US" sz="1000" dirty="0"/>
          </a:p>
        </p:txBody>
      </p:sp>
      <p:sp>
        <p:nvSpPr>
          <p:cNvPr id="35" name="Shape 33"/>
          <p:cNvSpPr/>
          <p:nvPr/>
        </p:nvSpPr>
        <p:spPr>
          <a:xfrm>
            <a:off x="5779008" y="2112264"/>
            <a:ext cx="1005840" cy="310896"/>
          </a:xfrm>
          <a:prstGeom prst="rect">
            <a:avLst/>
          </a:prstGeom>
          <a:solidFill>
            <a:srgbClr val="F0F4F8"/>
          </a:solidFill>
          <a:ln w="6350">
            <a:solidFill>
              <a:srgbClr val="D6E8F0"/>
            </a:solidFill>
            <a:prstDash val="solid"/>
          </a:ln>
        </p:spPr>
      </p:sp>
      <p:sp>
        <p:nvSpPr>
          <p:cNvPr id="36" name="Text 34"/>
          <p:cNvSpPr/>
          <p:nvPr/>
        </p:nvSpPr>
        <p:spPr>
          <a:xfrm>
            <a:off x="5815584" y="214884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200 mV</a:t>
            </a:r>
            <a:endParaRPr lang="en-US" sz="1000" dirty="0"/>
          </a:p>
        </p:txBody>
      </p:sp>
      <p:sp>
        <p:nvSpPr>
          <p:cNvPr id="37" name="Shape 35"/>
          <p:cNvSpPr/>
          <p:nvPr/>
        </p:nvSpPr>
        <p:spPr>
          <a:xfrm>
            <a:off x="6803136" y="2112264"/>
            <a:ext cx="1005840" cy="310896"/>
          </a:xfrm>
          <a:prstGeom prst="rect">
            <a:avLst/>
          </a:prstGeom>
          <a:solidFill>
            <a:srgbClr val="F0F4F8"/>
          </a:solidFill>
          <a:ln w="6350">
            <a:solidFill>
              <a:srgbClr val="D6E8F0"/>
            </a:solidFill>
            <a:prstDash val="solid"/>
          </a:ln>
        </p:spPr>
      </p:sp>
      <p:sp>
        <p:nvSpPr>
          <p:cNvPr id="38" name="Text 36"/>
          <p:cNvSpPr/>
          <p:nvPr/>
        </p:nvSpPr>
        <p:spPr>
          <a:xfrm>
            <a:off x="6839712" y="214884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41</a:t>
            </a:r>
            <a:endParaRPr lang="en-US" sz="1000" dirty="0"/>
          </a:p>
        </p:txBody>
      </p:sp>
      <p:sp>
        <p:nvSpPr>
          <p:cNvPr id="39" name="Shape 37"/>
          <p:cNvSpPr/>
          <p:nvPr/>
        </p:nvSpPr>
        <p:spPr>
          <a:xfrm>
            <a:off x="7827264" y="2112264"/>
            <a:ext cx="1005840" cy="310896"/>
          </a:xfrm>
          <a:prstGeom prst="rect">
            <a:avLst/>
          </a:prstGeom>
          <a:solidFill>
            <a:srgbClr val="F0F4F8"/>
          </a:solidFill>
          <a:ln w="6350">
            <a:solidFill>
              <a:srgbClr val="D6E8F0"/>
            </a:solidFill>
            <a:prstDash val="solid"/>
          </a:ln>
        </p:spPr>
      </p:sp>
      <p:sp>
        <p:nvSpPr>
          <p:cNvPr id="40" name="Text 38"/>
          <p:cNvSpPr/>
          <p:nvPr/>
        </p:nvSpPr>
        <p:spPr>
          <a:xfrm>
            <a:off x="7863840" y="214884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20°C</a:t>
            </a:r>
            <a:endParaRPr lang="en-US" sz="1000" dirty="0"/>
          </a:p>
        </p:txBody>
      </p:sp>
      <p:sp>
        <p:nvSpPr>
          <p:cNvPr id="41" name="Text 39"/>
          <p:cNvSpPr/>
          <p:nvPr/>
        </p:nvSpPr>
        <p:spPr>
          <a:xfrm>
            <a:off x="4791456" y="249631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25°C</a:t>
            </a:r>
            <a:endParaRPr lang="en-US" sz="1000" dirty="0"/>
          </a:p>
        </p:txBody>
      </p:sp>
      <p:sp>
        <p:nvSpPr>
          <p:cNvPr id="42" name="Text 40"/>
          <p:cNvSpPr/>
          <p:nvPr/>
        </p:nvSpPr>
        <p:spPr>
          <a:xfrm>
            <a:off x="5815584" y="249631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250 mV</a:t>
            </a:r>
            <a:endParaRPr lang="en-US" sz="1000" dirty="0"/>
          </a:p>
        </p:txBody>
      </p:sp>
      <p:sp>
        <p:nvSpPr>
          <p:cNvPr id="43" name="Text 41"/>
          <p:cNvSpPr/>
          <p:nvPr/>
        </p:nvSpPr>
        <p:spPr>
          <a:xfrm>
            <a:off x="6839712" y="249631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51</a:t>
            </a:r>
            <a:endParaRPr lang="en-US" sz="1000" dirty="0"/>
          </a:p>
        </p:txBody>
      </p:sp>
      <p:sp>
        <p:nvSpPr>
          <p:cNvPr id="44" name="Text 42"/>
          <p:cNvSpPr/>
          <p:nvPr/>
        </p:nvSpPr>
        <p:spPr>
          <a:xfrm>
            <a:off x="7863840" y="249631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25°C</a:t>
            </a:r>
            <a:endParaRPr lang="en-US" sz="1000" dirty="0"/>
          </a:p>
        </p:txBody>
      </p:sp>
      <p:sp>
        <p:nvSpPr>
          <p:cNvPr id="45" name="Shape 43"/>
          <p:cNvSpPr/>
          <p:nvPr/>
        </p:nvSpPr>
        <p:spPr>
          <a:xfrm>
            <a:off x="4754880" y="2807208"/>
            <a:ext cx="1005840" cy="310896"/>
          </a:xfrm>
          <a:prstGeom prst="rect">
            <a:avLst/>
          </a:prstGeom>
          <a:solidFill>
            <a:srgbClr val="F0F4F8"/>
          </a:solidFill>
          <a:ln w="6350">
            <a:solidFill>
              <a:srgbClr val="D6E8F0"/>
            </a:solidFill>
            <a:prstDash val="solid"/>
          </a:ln>
        </p:spPr>
      </p:sp>
      <p:sp>
        <p:nvSpPr>
          <p:cNvPr id="46" name="Text 44"/>
          <p:cNvSpPr/>
          <p:nvPr/>
        </p:nvSpPr>
        <p:spPr>
          <a:xfrm>
            <a:off x="4791456" y="2843784"/>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30°C</a:t>
            </a:r>
            <a:endParaRPr lang="en-US" sz="1000" dirty="0"/>
          </a:p>
        </p:txBody>
      </p:sp>
      <p:sp>
        <p:nvSpPr>
          <p:cNvPr id="47" name="Shape 45"/>
          <p:cNvSpPr/>
          <p:nvPr/>
        </p:nvSpPr>
        <p:spPr>
          <a:xfrm>
            <a:off x="5779008" y="2807208"/>
            <a:ext cx="1005840" cy="310896"/>
          </a:xfrm>
          <a:prstGeom prst="rect">
            <a:avLst/>
          </a:prstGeom>
          <a:solidFill>
            <a:srgbClr val="F0F4F8"/>
          </a:solidFill>
          <a:ln w="6350">
            <a:solidFill>
              <a:srgbClr val="D6E8F0"/>
            </a:solidFill>
            <a:prstDash val="solid"/>
          </a:ln>
        </p:spPr>
      </p:sp>
      <p:sp>
        <p:nvSpPr>
          <p:cNvPr id="48" name="Text 46"/>
          <p:cNvSpPr/>
          <p:nvPr/>
        </p:nvSpPr>
        <p:spPr>
          <a:xfrm>
            <a:off x="5815584" y="2843784"/>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300 mV</a:t>
            </a:r>
            <a:endParaRPr lang="en-US" sz="1000" dirty="0"/>
          </a:p>
        </p:txBody>
      </p:sp>
      <p:sp>
        <p:nvSpPr>
          <p:cNvPr id="49" name="Shape 47"/>
          <p:cNvSpPr/>
          <p:nvPr/>
        </p:nvSpPr>
        <p:spPr>
          <a:xfrm>
            <a:off x="6803136" y="2807208"/>
            <a:ext cx="1005840" cy="310896"/>
          </a:xfrm>
          <a:prstGeom prst="rect">
            <a:avLst/>
          </a:prstGeom>
          <a:solidFill>
            <a:srgbClr val="F0F4F8"/>
          </a:solidFill>
          <a:ln w="6350">
            <a:solidFill>
              <a:srgbClr val="D6E8F0"/>
            </a:solidFill>
            <a:prstDash val="solid"/>
          </a:ln>
        </p:spPr>
      </p:sp>
      <p:sp>
        <p:nvSpPr>
          <p:cNvPr id="50" name="Text 48"/>
          <p:cNvSpPr/>
          <p:nvPr/>
        </p:nvSpPr>
        <p:spPr>
          <a:xfrm>
            <a:off x="6839712" y="2843784"/>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61</a:t>
            </a:r>
            <a:endParaRPr lang="en-US" sz="1000" dirty="0"/>
          </a:p>
        </p:txBody>
      </p:sp>
      <p:sp>
        <p:nvSpPr>
          <p:cNvPr id="51" name="Shape 49"/>
          <p:cNvSpPr/>
          <p:nvPr/>
        </p:nvSpPr>
        <p:spPr>
          <a:xfrm>
            <a:off x="7827264" y="2807208"/>
            <a:ext cx="1005840" cy="310896"/>
          </a:xfrm>
          <a:prstGeom prst="rect">
            <a:avLst/>
          </a:prstGeom>
          <a:solidFill>
            <a:srgbClr val="F0F4F8"/>
          </a:solidFill>
          <a:ln w="6350">
            <a:solidFill>
              <a:srgbClr val="D6E8F0"/>
            </a:solidFill>
            <a:prstDash val="solid"/>
          </a:ln>
        </p:spPr>
      </p:sp>
      <p:sp>
        <p:nvSpPr>
          <p:cNvPr id="52" name="Text 50"/>
          <p:cNvSpPr/>
          <p:nvPr/>
        </p:nvSpPr>
        <p:spPr>
          <a:xfrm>
            <a:off x="7863840" y="2843784"/>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30°C</a:t>
            </a:r>
            <a:endParaRPr lang="en-US" sz="1000" dirty="0"/>
          </a:p>
        </p:txBody>
      </p:sp>
      <p:sp>
        <p:nvSpPr>
          <p:cNvPr id="53" name="Text 51"/>
          <p:cNvSpPr/>
          <p:nvPr/>
        </p:nvSpPr>
        <p:spPr>
          <a:xfrm>
            <a:off x="4791456" y="3191256"/>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35°C</a:t>
            </a:r>
            <a:endParaRPr lang="en-US" sz="1000" dirty="0"/>
          </a:p>
        </p:txBody>
      </p:sp>
      <p:sp>
        <p:nvSpPr>
          <p:cNvPr id="54" name="Text 52"/>
          <p:cNvSpPr/>
          <p:nvPr/>
        </p:nvSpPr>
        <p:spPr>
          <a:xfrm>
            <a:off x="5815584" y="3191256"/>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350 mV</a:t>
            </a:r>
            <a:endParaRPr lang="en-US" sz="1000" dirty="0"/>
          </a:p>
        </p:txBody>
      </p:sp>
      <p:sp>
        <p:nvSpPr>
          <p:cNvPr id="55" name="Text 53"/>
          <p:cNvSpPr/>
          <p:nvPr/>
        </p:nvSpPr>
        <p:spPr>
          <a:xfrm>
            <a:off x="6839712" y="3191256"/>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72</a:t>
            </a:r>
            <a:endParaRPr lang="en-US" sz="1000" dirty="0"/>
          </a:p>
        </p:txBody>
      </p:sp>
      <p:sp>
        <p:nvSpPr>
          <p:cNvPr id="56" name="Text 54"/>
          <p:cNvSpPr/>
          <p:nvPr/>
        </p:nvSpPr>
        <p:spPr>
          <a:xfrm>
            <a:off x="7863840" y="3191256"/>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35°C</a:t>
            </a:r>
            <a:endParaRPr lang="en-US" sz="1000" dirty="0"/>
          </a:p>
        </p:txBody>
      </p:sp>
      <p:sp>
        <p:nvSpPr>
          <p:cNvPr id="57" name="Shape 55"/>
          <p:cNvSpPr/>
          <p:nvPr/>
        </p:nvSpPr>
        <p:spPr>
          <a:xfrm>
            <a:off x="4754880" y="3502152"/>
            <a:ext cx="1005840" cy="310896"/>
          </a:xfrm>
          <a:prstGeom prst="rect">
            <a:avLst/>
          </a:prstGeom>
          <a:solidFill>
            <a:srgbClr val="F0F4F8"/>
          </a:solidFill>
          <a:ln w="6350">
            <a:solidFill>
              <a:srgbClr val="D6E8F0"/>
            </a:solidFill>
            <a:prstDash val="solid"/>
          </a:ln>
        </p:spPr>
      </p:sp>
      <p:sp>
        <p:nvSpPr>
          <p:cNvPr id="58" name="Text 56"/>
          <p:cNvSpPr/>
          <p:nvPr/>
        </p:nvSpPr>
        <p:spPr>
          <a:xfrm>
            <a:off x="4791456" y="353872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40°C</a:t>
            </a:r>
            <a:endParaRPr lang="en-US" sz="1000" dirty="0"/>
          </a:p>
        </p:txBody>
      </p:sp>
      <p:sp>
        <p:nvSpPr>
          <p:cNvPr id="59" name="Shape 57"/>
          <p:cNvSpPr/>
          <p:nvPr/>
        </p:nvSpPr>
        <p:spPr>
          <a:xfrm>
            <a:off x="5779008" y="3502152"/>
            <a:ext cx="1005840" cy="310896"/>
          </a:xfrm>
          <a:prstGeom prst="rect">
            <a:avLst/>
          </a:prstGeom>
          <a:solidFill>
            <a:srgbClr val="F0F4F8"/>
          </a:solidFill>
          <a:ln w="6350">
            <a:solidFill>
              <a:srgbClr val="D6E8F0"/>
            </a:solidFill>
            <a:prstDash val="solid"/>
          </a:ln>
        </p:spPr>
      </p:sp>
      <p:sp>
        <p:nvSpPr>
          <p:cNvPr id="60" name="Text 58"/>
          <p:cNvSpPr/>
          <p:nvPr/>
        </p:nvSpPr>
        <p:spPr>
          <a:xfrm>
            <a:off x="5815584" y="353872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400 mV</a:t>
            </a:r>
            <a:endParaRPr lang="en-US" sz="1000" dirty="0"/>
          </a:p>
        </p:txBody>
      </p:sp>
      <p:sp>
        <p:nvSpPr>
          <p:cNvPr id="61" name="Shape 59"/>
          <p:cNvSpPr/>
          <p:nvPr/>
        </p:nvSpPr>
        <p:spPr>
          <a:xfrm>
            <a:off x="6803136" y="3502152"/>
            <a:ext cx="1005840" cy="310896"/>
          </a:xfrm>
          <a:prstGeom prst="rect">
            <a:avLst/>
          </a:prstGeom>
          <a:solidFill>
            <a:srgbClr val="F0F4F8"/>
          </a:solidFill>
          <a:ln w="6350">
            <a:solidFill>
              <a:srgbClr val="D6E8F0"/>
            </a:solidFill>
            <a:prstDash val="solid"/>
          </a:ln>
        </p:spPr>
      </p:sp>
      <p:sp>
        <p:nvSpPr>
          <p:cNvPr id="62" name="Text 60"/>
          <p:cNvSpPr/>
          <p:nvPr/>
        </p:nvSpPr>
        <p:spPr>
          <a:xfrm>
            <a:off x="6839712" y="353872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82</a:t>
            </a:r>
            <a:endParaRPr lang="en-US" sz="1000" dirty="0"/>
          </a:p>
        </p:txBody>
      </p:sp>
      <p:sp>
        <p:nvSpPr>
          <p:cNvPr id="63" name="Shape 61"/>
          <p:cNvSpPr/>
          <p:nvPr/>
        </p:nvSpPr>
        <p:spPr>
          <a:xfrm>
            <a:off x="7827264" y="3502152"/>
            <a:ext cx="1005840" cy="310896"/>
          </a:xfrm>
          <a:prstGeom prst="rect">
            <a:avLst/>
          </a:prstGeom>
          <a:solidFill>
            <a:srgbClr val="F0F4F8"/>
          </a:solidFill>
          <a:ln w="6350">
            <a:solidFill>
              <a:srgbClr val="D6E8F0"/>
            </a:solidFill>
            <a:prstDash val="solid"/>
          </a:ln>
        </p:spPr>
      </p:sp>
      <p:sp>
        <p:nvSpPr>
          <p:cNvPr id="64" name="Text 62"/>
          <p:cNvSpPr/>
          <p:nvPr/>
        </p:nvSpPr>
        <p:spPr>
          <a:xfrm>
            <a:off x="7863840" y="3538728"/>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40°C</a:t>
            </a:r>
            <a:endParaRPr lang="en-US" sz="1000" dirty="0"/>
          </a:p>
        </p:txBody>
      </p:sp>
      <p:sp>
        <p:nvSpPr>
          <p:cNvPr id="65" name="Text 63"/>
          <p:cNvSpPr/>
          <p:nvPr/>
        </p:nvSpPr>
        <p:spPr>
          <a:xfrm>
            <a:off x="4791456" y="388620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50°C</a:t>
            </a:r>
            <a:endParaRPr lang="en-US" sz="1000" dirty="0"/>
          </a:p>
        </p:txBody>
      </p:sp>
      <p:sp>
        <p:nvSpPr>
          <p:cNvPr id="66" name="Text 64"/>
          <p:cNvSpPr/>
          <p:nvPr/>
        </p:nvSpPr>
        <p:spPr>
          <a:xfrm>
            <a:off x="5815584" y="388620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500 mV</a:t>
            </a:r>
            <a:endParaRPr lang="en-US" sz="1000" dirty="0"/>
          </a:p>
        </p:txBody>
      </p:sp>
      <p:sp>
        <p:nvSpPr>
          <p:cNvPr id="67" name="Text 65"/>
          <p:cNvSpPr/>
          <p:nvPr/>
        </p:nvSpPr>
        <p:spPr>
          <a:xfrm>
            <a:off x="6839712" y="388620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102</a:t>
            </a:r>
            <a:endParaRPr lang="en-US" sz="1000" dirty="0"/>
          </a:p>
        </p:txBody>
      </p:sp>
      <p:sp>
        <p:nvSpPr>
          <p:cNvPr id="68" name="Text 66"/>
          <p:cNvSpPr/>
          <p:nvPr/>
        </p:nvSpPr>
        <p:spPr>
          <a:xfrm>
            <a:off x="7863840" y="3886200"/>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50°C</a:t>
            </a:r>
            <a:endParaRPr lang="en-US" sz="1000" dirty="0"/>
          </a:p>
        </p:txBody>
      </p:sp>
      <p:sp>
        <p:nvSpPr>
          <p:cNvPr id="69" name="Shape 67"/>
          <p:cNvSpPr/>
          <p:nvPr/>
        </p:nvSpPr>
        <p:spPr>
          <a:xfrm>
            <a:off x="4754880" y="4197096"/>
            <a:ext cx="1005840" cy="310896"/>
          </a:xfrm>
          <a:prstGeom prst="rect">
            <a:avLst/>
          </a:prstGeom>
          <a:solidFill>
            <a:srgbClr val="F0F4F8"/>
          </a:solidFill>
          <a:ln w="6350">
            <a:solidFill>
              <a:srgbClr val="D6E8F0"/>
            </a:solidFill>
            <a:prstDash val="solid"/>
          </a:ln>
        </p:spPr>
      </p:sp>
      <p:sp>
        <p:nvSpPr>
          <p:cNvPr id="70" name="Text 68"/>
          <p:cNvSpPr/>
          <p:nvPr/>
        </p:nvSpPr>
        <p:spPr>
          <a:xfrm>
            <a:off x="4791456" y="423367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100°C</a:t>
            </a:r>
            <a:endParaRPr lang="en-US" sz="1000" dirty="0"/>
          </a:p>
        </p:txBody>
      </p:sp>
      <p:sp>
        <p:nvSpPr>
          <p:cNvPr id="71" name="Shape 69"/>
          <p:cNvSpPr/>
          <p:nvPr/>
        </p:nvSpPr>
        <p:spPr>
          <a:xfrm>
            <a:off x="5779008" y="4197096"/>
            <a:ext cx="1005840" cy="310896"/>
          </a:xfrm>
          <a:prstGeom prst="rect">
            <a:avLst/>
          </a:prstGeom>
          <a:solidFill>
            <a:srgbClr val="F0F4F8"/>
          </a:solidFill>
          <a:ln w="6350">
            <a:solidFill>
              <a:srgbClr val="D6E8F0"/>
            </a:solidFill>
            <a:prstDash val="solid"/>
          </a:ln>
        </p:spPr>
      </p:sp>
      <p:sp>
        <p:nvSpPr>
          <p:cNvPr id="72" name="Text 70"/>
          <p:cNvSpPr/>
          <p:nvPr/>
        </p:nvSpPr>
        <p:spPr>
          <a:xfrm>
            <a:off x="5815584" y="423367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1000 mV</a:t>
            </a:r>
            <a:endParaRPr lang="en-US" sz="1000" dirty="0"/>
          </a:p>
        </p:txBody>
      </p:sp>
      <p:sp>
        <p:nvSpPr>
          <p:cNvPr id="73" name="Shape 71"/>
          <p:cNvSpPr/>
          <p:nvPr/>
        </p:nvSpPr>
        <p:spPr>
          <a:xfrm>
            <a:off x="6803136" y="4197096"/>
            <a:ext cx="1005840" cy="310896"/>
          </a:xfrm>
          <a:prstGeom prst="rect">
            <a:avLst/>
          </a:prstGeom>
          <a:solidFill>
            <a:srgbClr val="F0F4F8"/>
          </a:solidFill>
          <a:ln w="6350">
            <a:solidFill>
              <a:srgbClr val="D6E8F0"/>
            </a:solidFill>
            <a:prstDash val="solid"/>
          </a:ln>
        </p:spPr>
      </p:sp>
      <p:sp>
        <p:nvSpPr>
          <p:cNvPr id="74" name="Text 72"/>
          <p:cNvSpPr/>
          <p:nvPr/>
        </p:nvSpPr>
        <p:spPr>
          <a:xfrm>
            <a:off x="6839712" y="423367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205</a:t>
            </a:r>
            <a:endParaRPr lang="en-US" sz="1000" dirty="0"/>
          </a:p>
        </p:txBody>
      </p:sp>
      <p:sp>
        <p:nvSpPr>
          <p:cNvPr id="75" name="Shape 73"/>
          <p:cNvSpPr/>
          <p:nvPr/>
        </p:nvSpPr>
        <p:spPr>
          <a:xfrm>
            <a:off x="7827264" y="4197096"/>
            <a:ext cx="1005840" cy="310896"/>
          </a:xfrm>
          <a:prstGeom prst="rect">
            <a:avLst/>
          </a:prstGeom>
          <a:solidFill>
            <a:srgbClr val="F0F4F8"/>
          </a:solidFill>
          <a:ln w="6350">
            <a:solidFill>
              <a:srgbClr val="D6E8F0"/>
            </a:solidFill>
            <a:prstDash val="solid"/>
          </a:ln>
        </p:spPr>
      </p:sp>
      <p:sp>
        <p:nvSpPr>
          <p:cNvPr id="76" name="Text 74"/>
          <p:cNvSpPr/>
          <p:nvPr/>
        </p:nvSpPr>
        <p:spPr>
          <a:xfrm>
            <a:off x="7863840" y="4233672"/>
            <a:ext cx="932688" cy="25603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100°C</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Complete Test Results</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graphicFrame>
        <p:nvGraphicFramePr>
          <p:cNvPr id="4" name="Chart 0"/>
          <p:cNvGraphicFramePr/>
          <p:nvPr/>
        </p:nvGraphicFramePr>
        <p:xfrm>
          <a:off x="457200" y="914400"/>
          <a:ext cx="47548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349240" y="914400"/>
            <a:ext cx="3474720" cy="3108960"/>
          </a:xfrm>
          <a:prstGeom prst="roundRect">
            <a:avLst>
              <a:gd name="adj" fmla="val 2353"/>
            </a:avLst>
          </a:prstGeom>
          <a:solidFill>
            <a:srgbClr val="F0F4F8"/>
          </a:solidFill>
          <a:ln w="12700">
            <a:solidFill>
              <a:srgbClr val="D6E8F0"/>
            </a:solidFill>
            <a:prstDash val="solid"/>
          </a:ln>
          <a:effectLst>
            <a:outerShdw blurRad="101600" dist="38100" dir="2700000" algn="bl" rotWithShape="0">
              <a:srgbClr val="000000">
                <a:alpha val="12000"/>
              </a:srgbClr>
            </a:outerShdw>
          </a:effectLst>
        </p:spPr>
      </p:sp>
      <p:sp>
        <p:nvSpPr>
          <p:cNvPr id="6" name="Text 3"/>
          <p:cNvSpPr/>
          <p:nvPr/>
        </p:nvSpPr>
        <p:spPr>
          <a:xfrm>
            <a:off x="5486400" y="1005840"/>
            <a:ext cx="3200400" cy="329184"/>
          </a:xfrm>
          <a:prstGeom prst="rect">
            <a:avLst/>
          </a:prstGeom>
          <a:noFill/>
          <a:ln/>
        </p:spPr>
        <p:txBody>
          <a:bodyPr wrap="square" rtlCol="0" anchor="ctr"/>
          <a:lstStyle/>
          <a:p>
            <a:pPr marL="0" indent="0">
              <a:buNone/>
            </a:pPr>
            <a:r>
              <a:rPr lang="en-US" sz="1300" b="1" dirty="0">
                <a:solidFill>
                  <a:srgbClr val="1A2C5B"/>
                </a:solidFill>
                <a:latin typeface="Cambria" pitchFamily="34" charset="0"/>
                <a:ea typeface="Cambria" pitchFamily="34" charset="-122"/>
                <a:cs typeface="Cambria" pitchFamily="34" charset="-120"/>
              </a:rPr>
              <a:t>All 8 Test Cases</a:t>
            </a:r>
            <a:endParaRPr lang="en-US" sz="1300" dirty="0"/>
          </a:p>
        </p:txBody>
      </p:sp>
      <p:sp>
        <p:nvSpPr>
          <p:cNvPr id="7" name="Shape 4"/>
          <p:cNvSpPr/>
          <p:nvPr/>
        </p:nvSpPr>
        <p:spPr>
          <a:xfrm>
            <a:off x="5486400" y="1417320"/>
            <a:ext cx="3200400" cy="256032"/>
          </a:xfrm>
          <a:prstGeom prst="roundRect">
            <a:avLst>
              <a:gd name="adj" fmla="val 10714"/>
            </a:avLst>
          </a:prstGeom>
          <a:solidFill>
            <a:srgbClr val="FFFFFF"/>
          </a:solidFill>
          <a:ln w="6350">
            <a:solidFill>
              <a:srgbClr val="D6E8F0"/>
            </a:solidFill>
            <a:prstDash val="solid"/>
          </a:ln>
        </p:spPr>
      </p:sp>
      <p:sp>
        <p:nvSpPr>
          <p:cNvPr id="8" name="Text 5"/>
          <p:cNvSpPr/>
          <p:nvPr/>
        </p:nvSpPr>
        <p:spPr>
          <a:xfrm>
            <a:off x="5532120" y="1435608"/>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TC-01</a:t>
            </a:r>
            <a:endParaRPr lang="en-US" sz="950" dirty="0"/>
          </a:p>
        </p:txBody>
      </p:sp>
      <p:sp>
        <p:nvSpPr>
          <p:cNvPr id="9" name="Text 6"/>
          <p:cNvSpPr/>
          <p:nvPr/>
        </p:nvSpPr>
        <p:spPr>
          <a:xfrm>
            <a:off x="6053328" y="1435608"/>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Low Temp</a:t>
            </a:r>
            <a:endParaRPr lang="en-US" sz="950" dirty="0"/>
          </a:p>
        </p:txBody>
      </p:sp>
      <p:sp>
        <p:nvSpPr>
          <p:cNvPr id="10" name="Text 7"/>
          <p:cNvSpPr/>
          <p:nvPr/>
        </p:nvSpPr>
        <p:spPr>
          <a:xfrm>
            <a:off x="8229600" y="1435608"/>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11" name="Shape 8"/>
          <p:cNvSpPr/>
          <p:nvPr/>
        </p:nvSpPr>
        <p:spPr>
          <a:xfrm>
            <a:off x="5486400" y="1728216"/>
            <a:ext cx="3200400" cy="256032"/>
          </a:xfrm>
          <a:prstGeom prst="roundRect">
            <a:avLst>
              <a:gd name="adj" fmla="val 10714"/>
            </a:avLst>
          </a:prstGeom>
          <a:solidFill>
            <a:srgbClr val="F0F4F8"/>
          </a:solidFill>
          <a:ln w="6350">
            <a:solidFill>
              <a:srgbClr val="D6E8F0"/>
            </a:solidFill>
            <a:prstDash val="solid"/>
          </a:ln>
        </p:spPr>
      </p:sp>
      <p:sp>
        <p:nvSpPr>
          <p:cNvPr id="12" name="Text 9"/>
          <p:cNvSpPr/>
          <p:nvPr/>
        </p:nvSpPr>
        <p:spPr>
          <a:xfrm>
            <a:off x="5532120" y="1746504"/>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TC-02</a:t>
            </a:r>
            <a:endParaRPr lang="en-US" sz="950" dirty="0"/>
          </a:p>
        </p:txBody>
      </p:sp>
      <p:sp>
        <p:nvSpPr>
          <p:cNvPr id="13" name="Text 10"/>
          <p:cNvSpPr/>
          <p:nvPr/>
        </p:nvSpPr>
        <p:spPr>
          <a:xfrm>
            <a:off x="6053328" y="1746504"/>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Normal Temp</a:t>
            </a:r>
            <a:endParaRPr lang="en-US" sz="950" dirty="0"/>
          </a:p>
        </p:txBody>
      </p:sp>
      <p:sp>
        <p:nvSpPr>
          <p:cNvPr id="14" name="Text 11"/>
          <p:cNvSpPr/>
          <p:nvPr/>
        </p:nvSpPr>
        <p:spPr>
          <a:xfrm>
            <a:off x="8229600" y="1746504"/>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5486400" y="2039112"/>
            <a:ext cx="3200400" cy="256032"/>
          </a:xfrm>
          <a:prstGeom prst="roundRect">
            <a:avLst>
              <a:gd name="adj" fmla="val 10714"/>
            </a:avLst>
          </a:prstGeom>
          <a:solidFill>
            <a:srgbClr val="FFFFFF"/>
          </a:solidFill>
          <a:ln w="6350">
            <a:solidFill>
              <a:srgbClr val="D6E8F0"/>
            </a:solidFill>
            <a:prstDash val="solid"/>
          </a:ln>
        </p:spPr>
      </p:sp>
      <p:sp>
        <p:nvSpPr>
          <p:cNvPr id="16" name="Text 13"/>
          <p:cNvSpPr/>
          <p:nvPr/>
        </p:nvSpPr>
        <p:spPr>
          <a:xfrm>
            <a:off x="5532120" y="2057400"/>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TC-03</a:t>
            </a:r>
            <a:endParaRPr lang="en-US" sz="950" dirty="0"/>
          </a:p>
        </p:txBody>
      </p:sp>
      <p:sp>
        <p:nvSpPr>
          <p:cNvPr id="17" name="Text 14"/>
          <p:cNvSpPr/>
          <p:nvPr/>
        </p:nvSpPr>
        <p:spPr>
          <a:xfrm>
            <a:off x="6053328" y="2057400"/>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High Temp</a:t>
            </a:r>
            <a:endParaRPr lang="en-US" sz="950" dirty="0"/>
          </a:p>
        </p:txBody>
      </p:sp>
      <p:sp>
        <p:nvSpPr>
          <p:cNvPr id="18" name="Text 15"/>
          <p:cNvSpPr/>
          <p:nvPr/>
        </p:nvSpPr>
        <p:spPr>
          <a:xfrm>
            <a:off x="8229600" y="2057400"/>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19" name="Shape 16"/>
          <p:cNvSpPr/>
          <p:nvPr/>
        </p:nvSpPr>
        <p:spPr>
          <a:xfrm>
            <a:off x="5486400" y="2350008"/>
            <a:ext cx="3200400" cy="256032"/>
          </a:xfrm>
          <a:prstGeom prst="roundRect">
            <a:avLst>
              <a:gd name="adj" fmla="val 10714"/>
            </a:avLst>
          </a:prstGeom>
          <a:solidFill>
            <a:srgbClr val="F0F4F8"/>
          </a:solidFill>
          <a:ln w="6350">
            <a:solidFill>
              <a:srgbClr val="D6E8F0"/>
            </a:solidFill>
            <a:prstDash val="solid"/>
          </a:ln>
        </p:spPr>
      </p:sp>
      <p:sp>
        <p:nvSpPr>
          <p:cNvPr id="20" name="Text 17"/>
          <p:cNvSpPr/>
          <p:nvPr/>
        </p:nvSpPr>
        <p:spPr>
          <a:xfrm>
            <a:off x="5532120" y="2368296"/>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TC-04</a:t>
            </a:r>
            <a:endParaRPr lang="en-US" sz="950" dirty="0"/>
          </a:p>
        </p:txBody>
      </p:sp>
      <p:sp>
        <p:nvSpPr>
          <p:cNvPr id="21" name="Text 18"/>
          <p:cNvSpPr/>
          <p:nvPr/>
        </p:nvSpPr>
        <p:spPr>
          <a:xfrm>
            <a:off x="6053328" y="2368296"/>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Sensor Error</a:t>
            </a:r>
            <a:endParaRPr lang="en-US" sz="950" dirty="0"/>
          </a:p>
        </p:txBody>
      </p:sp>
      <p:sp>
        <p:nvSpPr>
          <p:cNvPr id="22" name="Text 19"/>
          <p:cNvSpPr/>
          <p:nvPr/>
        </p:nvSpPr>
        <p:spPr>
          <a:xfrm>
            <a:off x="8229600" y="2368296"/>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5486400" y="2660904"/>
            <a:ext cx="3200400" cy="256032"/>
          </a:xfrm>
          <a:prstGeom prst="roundRect">
            <a:avLst>
              <a:gd name="adj" fmla="val 10714"/>
            </a:avLst>
          </a:prstGeom>
          <a:solidFill>
            <a:srgbClr val="FFFFFF"/>
          </a:solidFill>
          <a:ln w="6350">
            <a:solidFill>
              <a:srgbClr val="D6E8F0"/>
            </a:solidFill>
            <a:prstDash val="solid"/>
          </a:ln>
        </p:spPr>
      </p:sp>
      <p:sp>
        <p:nvSpPr>
          <p:cNvPr id="24" name="Text 21"/>
          <p:cNvSpPr/>
          <p:nvPr/>
        </p:nvSpPr>
        <p:spPr>
          <a:xfrm>
            <a:off x="5532120" y="2679192"/>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TC-05</a:t>
            </a:r>
            <a:endParaRPr lang="en-US" sz="950" dirty="0"/>
          </a:p>
        </p:txBody>
      </p:sp>
      <p:sp>
        <p:nvSpPr>
          <p:cNvPr id="25" name="Text 22"/>
          <p:cNvSpPr/>
          <p:nvPr/>
        </p:nvSpPr>
        <p:spPr>
          <a:xfrm>
            <a:off x="6053328" y="2679192"/>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Boundary 25°C</a:t>
            </a:r>
            <a:endParaRPr lang="en-US" sz="950" dirty="0"/>
          </a:p>
        </p:txBody>
      </p:sp>
      <p:sp>
        <p:nvSpPr>
          <p:cNvPr id="26" name="Text 23"/>
          <p:cNvSpPr/>
          <p:nvPr/>
        </p:nvSpPr>
        <p:spPr>
          <a:xfrm>
            <a:off x="8229600" y="2679192"/>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27" name="Shape 24"/>
          <p:cNvSpPr/>
          <p:nvPr/>
        </p:nvSpPr>
        <p:spPr>
          <a:xfrm>
            <a:off x="5486400" y="2971800"/>
            <a:ext cx="3200400" cy="256032"/>
          </a:xfrm>
          <a:prstGeom prst="roundRect">
            <a:avLst>
              <a:gd name="adj" fmla="val 10714"/>
            </a:avLst>
          </a:prstGeom>
          <a:solidFill>
            <a:srgbClr val="F0F4F8"/>
          </a:solidFill>
          <a:ln w="6350">
            <a:solidFill>
              <a:srgbClr val="D6E8F0"/>
            </a:solidFill>
            <a:prstDash val="solid"/>
          </a:ln>
        </p:spPr>
      </p:sp>
      <p:sp>
        <p:nvSpPr>
          <p:cNvPr id="28" name="Text 25"/>
          <p:cNvSpPr/>
          <p:nvPr/>
        </p:nvSpPr>
        <p:spPr>
          <a:xfrm>
            <a:off x="5532120" y="2990088"/>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TC-06</a:t>
            </a:r>
            <a:endParaRPr lang="en-US" sz="950" dirty="0"/>
          </a:p>
        </p:txBody>
      </p:sp>
      <p:sp>
        <p:nvSpPr>
          <p:cNvPr id="29" name="Text 26"/>
          <p:cNvSpPr/>
          <p:nvPr/>
        </p:nvSpPr>
        <p:spPr>
          <a:xfrm>
            <a:off x="6053328" y="2990088"/>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Boundary 35°C</a:t>
            </a:r>
            <a:endParaRPr lang="en-US" sz="950" dirty="0"/>
          </a:p>
        </p:txBody>
      </p:sp>
      <p:sp>
        <p:nvSpPr>
          <p:cNvPr id="30" name="Text 27"/>
          <p:cNvSpPr/>
          <p:nvPr/>
        </p:nvSpPr>
        <p:spPr>
          <a:xfrm>
            <a:off x="8229600" y="2990088"/>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5486400" y="3282696"/>
            <a:ext cx="3200400" cy="256032"/>
          </a:xfrm>
          <a:prstGeom prst="roundRect">
            <a:avLst>
              <a:gd name="adj" fmla="val 10714"/>
            </a:avLst>
          </a:prstGeom>
          <a:solidFill>
            <a:srgbClr val="FFFFFF"/>
          </a:solidFill>
          <a:ln w="6350">
            <a:solidFill>
              <a:srgbClr val="D6E8F0"/>
            </a:solidFill>
            <a:prstDash val="solid"/>
          </a:ln>
        </p:spPr>
      </p:sp>
      <p:sp>
        <p:nvSpPr>
          <p:cNvPr id="32" name="Text 29"/>
          <p:cNvSpPr/>
          <p:nvPr/>
        </p:nvSpPr>
        <p:spPr>
          <a:xfrm>
            <a:off x="5532120" y="3300984"/>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TC-07</a:t>
            </a:r>
            <a:endParaRPr lang="en-US" sz="950" dirty="0"/>
          </a:p>
        </p:txBody>
      </p:sp>
      <p:sp>
        <p:nvSpPr>
          <p:cNvPr id="33" name="Text 30"/>
          <p:cNvSpPr/>
          <p:nvPr/>
        </p:nvSpPr>
        <p:spPr>
          <a:xfrm>
            <a:off x="6053328" y="3300984"/>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Dynamic Low→High</a:t>
            </a:r>
            <a:endParaRPr lang="en-US" sz="950" dirty="0"/>
          </a:p>
        </p:txBody>
      </p:sp>
      <p:sp>
        <p:nvSpPr>
          <p:cNvPr id="34" name="Text 31"/>
          <p:cNvSpPr/>
          <p:nvPr/>
        </p:nvSpPr>
        <p:spPr>
          <a:xfrm>
            <a:off x="8229600" y="3300984"/>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35" name="Shape 32"/>
          <p:cNvSpPr/>
          <p:nvPr/>
        </p:nvSpPr>
        <p:spPr>
          <a:xfrm>
            <a:off x="5486400" y="3593592"/>
            <a:ext cx="3200400" cy="256032"/>
          </a:xfrm>
          <a:prstGeom prst="roundRect">
            <a:avLst>
              <a:gd name="adj" fmla="val 10714"/>
            </a:avLst>
          </a:prstGeom>
          <a:solidFill>
            <a:srgbClr val="F0F4F8"/>
          </a:solidFill>
          <a:ln w="6350">
            <a:solidFill>
              <a:srgbClr val="D6E8F0"/>
            </a:solidFill>
            <a:prstDash val="solid"/>
          </a:ln>
        </p:spPr>
      </p:sp>
      <p:sp>
        <p:nvSpPr>
          <p:cNvPr id="36" name="Text 33"/>
          <p:cNvSpPr/>
          <p:nvPr/>
        </p:nvSpPr>
        <p:spPr>
          <a:xfrm>
            <a:off x="5532120" y="3611880"/>
            <a:ext cx="502920" cy="219456"/>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TC-08</a:t>
            </a:r>
            <a:endParaRPr lang="en-US" sz="950" dirty="0"/>
          </a:p>
        </p:txBody>
      </p:sp>
      <p:sp>
        <p:nvSpPr>
          <p:cNvPr id="37" name="Text 34"/>
          <p:cNvSpPr/>
          <p:nvPr/>
        </p:nvSpPr>
        <p:spPr>
          <a:xfrm>
            <a:off x="6053328" y="3611880"/>
            <a:ext cx="2103120" cy="21945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USART Output</a:t>
            </a:r>
            <a:endParaRPr lang="en-US" sz="950" dirty="0"/>
          </a:p>
        </p:txBody>
      </p:sp>
      <p:sp>
        <p:nvSpPr>
          <p:cNvPr id="38" name="Text 35"/>
          <p:cNvSpPr/>
          <p:nvPr/>
        </p:nvSpPr>
        <p:spPr>
          <a:xfrm>
            <a:off x="8229600" y="3611880"/>
            <a:ext cx="256032" cy="219456"/>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a:t>
            </a:r>
            <a:endParaRPr lang="en-US" sz="1100" dirty="0"/>
          </a:p>
        </p:txBody>
      </p:sp>
      <p:sp>
        <p:nvSpPr>
          <p:cNvPr id="39" name="Shape 36"/>
          <p:cNvSpPr/>
          <p:nvPr/>
        </p:nvSpPr>
        <p:spPr>
          <a:xfrm>
            <a:off x="457200" y="4160520"/>
            <a:ext cx="2560320" cy="731520"/>
          </a:xfrm>
          <a:prstGeom prst="roundRect">
            <a:avLst>
              <a:gd name="adj" fmla="val 10000"/>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40" name="Text 37"/>
          <p:cNvSpPr/>
          <p:nvPr/>
        </p:nvSpPr>
        <p:spPr>
          <a:xfrm>
            <a:off x="548640" y="4178808"/>
            <a:ext cx="1005840" cy="685800"/>
          </a:xfrm>
          <a:prstGeom prst="rect">
            <a:avLst/>
          </a:prstGeom>
          <a:noFill/>
          <a:ln/>
        </p:spPr>
        <p:txBody>
          <a:bodyPr wrap="square" rtlCol="0" anchor="ctr"/>
          <a:lstStyle/>
          <a:p>
            <a:pPr marL="0" indent="0" algn="ctr">
              <a:buNone/>
            </a:pPr>
            <a:r>
              <a:rPr lang="en-US" sz="3000" b="1" dirty="0">
                <a:solidFill>
                  <a:srgbClr val="E07B39"/>
                </a:solidFill>
                <a:latin typeface="Cambria" pitchFamily="34" charset="0"/>
                <a:ea typeface="Cambria" pitchFamily="34" charset="-122"/>
                <a:cs typeface="Cambria" pitchFamily="34" charset="-120"/>
              </a:rPr>
              <a:t>8/8</a:t>
            </a:r>
            <a:endParaRPr lang="en-US" sz="3000" dirty="0"/>
          </a:p>
        </p:txBody>
      </p:sp>
      <p:sp>
        <p:nvSpPr>
          <p:cNvPr id="41" name="Text 38"/>
          <p:cNvSpPr/>
          <p:nvPr/>
        </p:nvSpPr>
        <p:spPr>
          <a:xfrm>
            <a:off x="1554480" y="4206240"/>
            <a:ext cx="13716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Test Cases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Passed</a:t>
            </a:r>
            <a:endParaRPr lang="en-US" sz="1100" dirty="0"/>
          </a:p>
        </p:txBody>
      </p:sp>
      <p:sp>
        <p:nvSpPr>
          <p:cNvPr id="42" name="Shape 39"/>
          <p:cNvSpPr/>
          <p:nvPr/>
        </p:nvSpPr>
        <p:spPr>
          <a:xfrm>
            <a:off x="3291840" y="4160520"/>
            <a:ext cx="2560320" cy="731520"/>
          </a:xfrm>
          <a:prstGeom prst="roundRect">
            <a:avLst>
              <a:gd name="adj" fmla="val 10000"/>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43" name="Text 40"/>
          <p:cNvSpPr/>
          <p:nvPr/>
        </p:nvSpPr>
        <p:spPr>
          <a:xfrm>
            <a:off x="3383280" y="4178808"/>
            <a:ext cx="1005840" cy="685800"/>
          </a:xfrm>
          <a:prstGeom prst="rect">
            <a:avLst/>
          </a:prstGeom>
          <a:noFill/>
          <a:ln/>
        </p:spPr>
        <p:txBody>
          <a:bodyPr wrap="square" rtlCol="0" anchor="ctr"/>
          <a:lstStyle/>
          <a:p>
            <a:pPr marL="0" indent="0" algn="ctr">
              <a:buNone/>
            </a:pPr>
            <a:r>
              <a:rPr lang="en-US" sz="3000" b="1" dirty="0">
                <a:solidFill>
                  <a:srgbClr val="E07B39"/>
                </a:solidFill>
                <a:latin typeface="Cambria" pitchFamily="34" charset="0"/>
                <a:ea typeface="Cambria" pitchFamily="34" charset="-122"/>
                <a:cs typeface="Cambria" pitchFamily="34" charset="-120"/>
              </a:rPr>
              <a:t>100%</a:t>
            </a:r>
            <a:endParaRPr lang="en-US" sz="3000" dirty="0"/>
          </a:p>
        </p:txBody>
      </p:sp>
      <p:sp>
        <p:nvSpPr>
          <p:cNvPr id="44" name="Text 41"/>
          <p:cNvSpPr/>
          <p:nvPr/>
        </p:nvSpPr>
        <p:spPr>
          <a:xfrm>
            <a:off x="4389120" y="4206240"/>
            <a:ext cx="13716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Rate</a:t>
            </a:r>
            <a:endParaRPr lang="en-US" sz="1100" dirty="0"/>
          </a:p>
        </p:txBody>
      </p:sp>
      <p:sp>
        <p:nvSpPr>
          <p:cNvPr id="45" name="Shape 42"/>
          <p:cNvSpPr/>
          <p:nvPr/>
        </p:nvSpPr>
        <p:spPr>
          <a:xfrm>
            <a:off x="6126480" y="4160520"/>
            <a:ext cx="2560320" cy="731520"/>
          </a:xfrm>
          <a:prstGeom prst="roundRect">
            <a:avLst>
              <a:gd name="adj" fmla="val 10000"/>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46" name="Text 43"/>
          <p:cNvSpPr/>
          <p:nvPr/>
        </p:nvSpPr>
        <p:spPr>
          <a:xfrm>
            <a:off x="6217920" y="4178808"/>
            <a:ext cx="1005840" cy="685800"/>
          </a:xfrm>
          <a:prstGeom prst="rect">
            <a:avLst/>
          </a:prstGeom>
          <a:noFill/>
          <a:ln/>
        </p:spPr>
        <p:txBody>
          <a:bodyPr wrap="square" rtlCol="0" anchor="ctr"/>
          <a:lstStyle/>
          <a:p>
            <a:pPr marL="0" indent="0" algn="ctr">
              <a:buNone/>
            </a:pPr>
            <a:r>
              <a:rPr lang="en-US" sz="3000" b="1" dirty="0">
                <a:solidFill>
                  <a:srgbClr val="E07B39"/>
                </a:solidFill>
                <a:latin typeface="Cambria" pitchFamily="34" charset="0"/>
                <a:ea typeface="Cambria" pitchFamily="34" charset="-122"/>
                <a:cs typeface="Cambria" pitchFamily="34" charset="-120"/>
              </a:rPr>
              <a:t>±0.5°C</a:t>
            </a:r>
            <a:endParaRPr lang="en-US" sz="3000" dirty="0"/>
          </a:p>
        </p:txBody>
      </p:sp>
      <p:sp>
        <p:nvSpPr>
          <p:cNvPr id="47" name="Text 44"/>
          <p:cNvSpPr/>
          <p:nvPr/>
        </p:nvSpPr>
        <p:spPr>
          <a:xfrm>
            <a:off x="7223760" y="4206240"/>
            <a:ext cx="13716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Calculation</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Accuracy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475488"/>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GitHub Repository</a:t>
            </a:r>
            <a:endParaRPr lang="en-US" sz="2800" dirty="0"/>
          </a:p>
        </p:txBody>
      </p:sp>
      <p:sp>
        <p:nvSpPr>
          <p:cNvPr id="3" name="Shape 1"/>
          <p:cNvSpPr/>
          <p:nvPr/>
        </p:nvSpPr>
        <p:spPr>
          <a:xfrm>
            <a:off x="502920" y="768096"/>
            <a:ext cx="8138160" cy="36576"/>
          </a:xfrm>
          <a:prstGeom prst="rect">
            <a:avLst/>
          </a:prstGeom>
          <a:solidFill>
            <a:srgbClr val="0D7377"/>
          </a:solidFill>
          <a:ln w="12700">
            <a:solidFill>
              <a:srgbClr val="0D7377"/>
            </a:solidFill>
            <a:prstDash val="solid"/>
          </a:ln>
        </p:spPr>
      </p:sp>
      <p:sp>
        <p:nvSpPr>
          <p:cNvPr id="4" name="Shape 2"/>
          <p:cNvSpPr/>
          <p:nvPr/>
        </p:nvSpPr>
        <p:spPr>
          <a:xfrm>
            <a:off x="457200" y="914400"/>
            <a:ext cx="4023360" cy="1554480"/>
          </a:xfrm>
          <a:prstGeom prst="roundRect">
            <a:avLst>
              <a:gd name="adj" fmla="val 6897"/>
            </a:avLst>
          </a:prstGeom>
          <a:solidFill>
            <a:srgbClr val="1A2C5B"/>
          </a:solidFill>
          <a:ln w="12700">
            <a:solidFill>
              <a:srgbClr val="1A2C5B"/>
            </a:solidFill>
            <a:prstDash val="solid"/>
          </a:ln>
          <a:effectLst>
            <a:outerShdw blurRad="101600" dist="38100" dir="2700000" algn="bl" rotWithShape="0">
              <a:srgbClr val="000000">
                <a:alpha val="12000"/>
              </a:srgbClr>
            </a:outerShdw>
          </a:effectLst>
        </p:spPr>
      </p:sp>
      <p:sp>
        <p:nvSpPr>
          <p:cNvPr id="5" name="Text 3"/>
          <p:cNvSpPr/>
          <p:nvPr/>
        </p:nvSpPr>
        <p:spPr>
          <a:xfrm>
            <a:off x="685800" y="1005840"/>
            <a:ext cx="3611880" cy="329184"/>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ATmega32_ADC_Temperature_Monitor</a:t>
            </a:r>
            <a:endParaRPr lang="en-US" sz="1350" dirty="0"/>
          </a:p>
        </p:txBody>
      </p:sp>
      <p:sp>
        <p:nvSpPr>
          <p:cNvPr id="6" name="Text 4"/>
          <p:cNvSpPr/>
          <p:nvPr/>
        </p:nvSpPr>
        <p:spPr>
          <a:xfrm>
            <a:off x="685800" y="1417320"/>
            <a:ext cx="914400" cy="237744"/>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Visibility:</a:t>
            </a:r>
            <a:endParaRPr lang="en-US" sz="1000" dirty="0"/>
          </a:p>
        </p:txBody>
      </p:sp>
      <p:sp>
        <p:nvSpPr>
          <p:cNvPr id="7" name="Text 5"/>
          <p:cNvSpPr/>
          <p:nvPr/>
        </p:nvSpPr>
        <p:spPr>
          <a:xfrm>
            <a:off x="1600200" y="1417320"/>
            <a:ext cx="2697480" cy="237744"/>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Public  ·  MIT License</a:t>
            </a:r>
            <a:endParaRPr lang="en-US" sz="1000" dirty="0"/>
          </a:p>
        </p:txBody>
      </p:sp>
      <p:sp>
        <p:nvSpPr>
          <p:cNvPr id="8" name="Text 6"/>
          <p:cNvSpPr/>
          <p:nvPr/>
        </p:nvSpPr>
        <p:spPr>
          <a:xfrm>
            <a:off x="685800" y="1673352"/>
            <a:ext cx="914400" cy="237744"/>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Commits:</a:t>
            </a:r>
            <a:endParaRPr lang="en-US" sz="1000" dirty="0"/>
          </a:p>
        </p:txBody>
      </p:sp>
      <p:sp>
        <p:nvSpPr>
          <p:cNvPr id="9" name="Text 7"/>
          <p:cNvSpPr/>
          <p:nvPr/>
        </p:nvSpPr>
        <p:spPr>
          <a:xfrm>
            <a:off x="1600200" y="1673352"/>
            <a:ext cx="2697480" cy="237744"/>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11 structured commits</a:t>
            </a:r>
            <a:endParaRPr lang="en-US" sz="1000" dirty="0"/>
          </a:p>
        </p:txBody>
      </p:sp>
      <p:sp>
        <p:nvSpPr>
          <p:cNvPr id="10" name="Text 8"/>
          <p:cNvSpPr/>
          <p:nvPr/>
        </p:nvSpPr>
        <p:spPr>
          <a:xfrm>
            <a:off x="685800" y="1929384"/>
            <a:ext cx="914400" cy="237744"/>
          </a:xfrm>
          <a:prstGeom prst="rect">
            <a:avLst/>
          </a:prstGeom>
          <a:noFill/>
          <a:ln/>
        </p:spPr>
        <p:txBody>
          <a:bodyPr wrap="square" rtlCol="0" anchor="ctr"/>
          <a:lstStyle/>
          <a:p>
            <a:pPr marL="0" indent="0">
              <a:buNone/>
            </a:pPr>
            <a:r>
              <a:rPr lang="en-US" sz="1000" b="1" dirty="0">
                <a:solidFill>
                  <a:srgbClr val="8FBBCF"/>
                </a:solidFill>
                <a:latin typeface="Calibri" pitchFamily="34" charset="0"/>
                <a:ea typeface="Calibri" pitchFamily="34" charset="-122"/>
                <a:cs typeface="Calibri" pitchFamily="34" charset="-120"/>
              </a:rPr>
              <a:t>URL:</a:t>
            </a:r>
            <a:endParaRPr lang="en-US" sz="1000" dirty="0"/>
          </a:p>
        </p:txBody>
      </p:sp>
      <p:sp>
        <p:nvSpPr>
          <p:cNvPr id="11" name="Text 9"/>
          <p:cNvSpPr/>
          <p:nvPr/>
        </p:nvSpPr>
        <p:spPr>
          <a:xfrm>
            <a:off x="1600200" y="1929384"/>
            <a:ext cx="2697480" cy="237744"/>
          </a:xfrm>
          <a:prstGeom prst="rect">
            <a:avLst/>
          </a:prstGeom>
          <a:noFill/>
          <a:ln/>
        </p:spPr>
        <p:txBody>
          <a:bodyPr wrap="square" rtlCol="0" anchor="ctr"/>
          <a:lstStyle/>
          <a:p>
            <a:r>
              <a:rPr lang="en-US" sz="1000" dirty="0"/>
              <a:t>https://github.com/panthermodes/ANALOGY-TEMPERATURE-MONITORING-SYSTEM-GROUP2.git</a:t>
            </a:r>
          </a:p>
        </p:txBody>
      </p:sp>
      <p:sp>
        <p:nvSpPr>
          <p:cNvPr id="12" name="Shape 10"/>
          <p:cNvSpPr/>
          <p:nvPr/>
        </p:nvSpPr>
        <p:spPr>
          <a:xfrm>
            <a:off x="457200" y="2377440"/>
            <a:ext cx="4023360" cy="2514600"/>
          </a:xfrm>
          <a:prstGeom prst="roundRect">
            <a:avLst>
              <a:gd name="adj" fmla="val 3636"/>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13" name="Text 11"/>
          <p:cNvSpPr/>
          <p:nvPr/>
        </p:nvSpPr>
        <p:spPr>
          <a:xfrm>
            <a:off x="685800" y="2468880"/>
            <a:ext cx="3566160" cy="310896"/>
          </a:xfrm>
          <a:prstGeom prst="rect">
            <a:avLst/>
          </a:prstGeom>
          <a:noFill/>
          <a:ln/>
        </p:spPr>
        <p:txBody>
          <a:bodyPr wrap="square" rtlCol="0" anchor="ctr"/>
          <a:lstStyle/>
          <a:p>
            <a:pPr marL="0" indent="0">
              <a:buNone/>
            </a:pPr>
            <a:r>
              <a:rPr lang="en-US" sz="1250" b="1" dirty="0">
                <a:solidFill>
                  <a:srgbClr val="0D7377"/>
                </a:solidFill>
                <a:latin typeface="Cambria" pitchFamily="34" charset="0"/>
                <a:ea typeface="Cambria" pitchFamily="34" charset="-122"/>
                <a:cs typeface="Cambria" pitchFamily="34" charset="-120"/>
              </a:rPr>
              <a:t>Repository Structure</a:t>
            </a:r>
            <a:endParaRPr lang="en-US" sz="1250" dirty="0"/>
          </a:p>
        </p:txBody>
      </p:sp>
      <p:sp>
        <p:nvSpPr>
          <p:cNvPr id="14" name="Text 12"/>
          <p:cNvSpPr/>
          <p:nvPr/>
        </p:nvSpPr>
        <p:spPr>
          <a:xfrm>
            <a:off x="658368" y="2852928"/>
            <a:ext cx="3657600" cy="2926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firmware /  src / main.c  ·  hex / *.hex</a:t>
            </a:r>
            <a:endParaRPr lang="en-US" sz="1000" dirty="0"/>
          </a:p>
        </p:txBody>
      </p:sp>
      <p:sp>
        <p:nvSpPr>
          <p:cNvPr id="15" name="Text 13"/>
          <p:cNvSpPr/>
          <p:nvPr/>
        </p:nvSpPr>
        <p:spPr>
          <a:xfrm>
            <a:off x="658368" y="3182112"/>
            <a:ext cx="3657600" cy="2926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kicad /  schematic /  ·  pcb /  ·  gerber /</a:t>
            </a:r>
            <a:endParaRPr lang="en-US" sz="1000" dirty="0"/>
          </a:p>
        </p:txBody>
      </p:sp>
      <p:sp>
        <p:nvSpPr>
          <p:cNvPr id="16" name="Text 14"/>
          <p:cNvSpPr/>
          <p:nvPr/>
        </p:nvSpPr>
        <p:spPr>
          <a:xfrm>
            <a:off x="658368" y="3511296"/>
            <a:ext cx="3657600" cy="2926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simulide /  circuit /  ·  screenshots /</a:t>
            </a:r>
            <a:endParaRPr lang="en-US" sz="1000" dirty="0"/>
          </a:p>
        </p:txBody>
      </p:sp>
      <p:sp>
        <p:nvSpPr>
          <p:cNvPr id="17" name="Text 15"/>
          <p:cNvSpPr/>
          <p:nvPr/>
        </p:nvSpPr>
        <p:spPr>
          <a:xfrm>
            <a:off x="658368" y="3840480"/>
            <a:ext cx="3657600" cy="2926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documentation /  block_diagram  ·  flowchart</a:t>
            </a:r>
            <a:endParaRPr lang="en-US" sz="1000" dirty="0"/>
          </a:p>
        </p:txBody>
      </p:sp>
      <p:sp>
        <p:nvSpPr>
          <p:cNvPr id="18" name="Text 16"/>
          <p:cNvSpPr/>
          <p:nvPr/>
        </p:nvSpPr>
        <p:spPr>
          <a:xfrm>
            <a:off x="658368" y="4169664"/>
            <a:ext cx="3657600" cy="2926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README.md  (project overview + setup)</a:t>
            </a:r>
            <a:endParaRPr lang="en-US" sz="1000" dirty="0"/>
          </a:p>
        </p:txBody>
      </p:sp>
      <p:sp>
        <p:nvSpPr>
          <p:cNvPr id="19" name="Text 17"/>
          <p:cNvSpPr/>
          <p:nvPr/>
        </p:nvSpPr>
        <p:spPr>
          <a:xfrm>
            <a:off x="658368" y="4498848"/>
            <a:ext cx="3657600" cy="2926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media /  demonstration_video_link.txt</a:t>
            </a:r>
            <a:endParaRPr lang="en-US" sz="1000" dirty="0"/>
          </a:p>
        </p:txBody>
      </p:sp>
      <p:sp>
        <p:nvSpPr>
          <p:cNvPr id="20" name="Shape 18"/>
          <p:cNvSpPr/>
          <p:nvPr/>
        </p:nvSpPr>
        <p:spPr>
          <a:xfrm>
            <a:off x="4709160" y="914400"/>
            <a:ext cx="4114800" cy="3977640"/>
          </a:xfrm>
          <a:prstGeom prst="roundRect">
            <a:avLst>
              <a:gd name="adj" fmla="val 2299"/>
            </a:avLst>
          </a:prstGeom>
          <a:solidFill>
            <a:srgbClr val="FFFFFF"/>
          </a:solidFill>
          <a:ln w="12700">
            <a:solidFill>
              <a:srgbClr val="D6E8F0"/>
            </a:solidFill>
            <a:prstDash val="solid"/>
          </a:ln>
          <a:effectLst>
            <a:outerShdw blurRad="101600" dist="38100" dir="2700000" algn="bl" rotWithShape="0">
              <a:srgbClr val="000000">
                <a:alpha val="12000"/>
              </a:srgbClr>
            </a:outerShdw>
          </a:effectLst>
        </p:spPr>
      </p:sp>
      <p:sp>
        <p:nvSpPr>
          <p:cNvPr id="21" name="Text 19"/>
          <p:cNvSpPr/>
          <p:nvPr/>
        </p:nvSpPr>
        <p:spPr>
          <a:xfrm>
            <a:off x="4937760" y="1005840"/>
            <a:ext cx="3657600" cy="329184"/>
          </a:xfrm>
          <a:prstGeom prst="rect">
            <a:avLst/>
          </a:prstGeom>
          <a:noFill/>
          <a:ln/>
        </p:spPr>
        <p:txBody>
          <a:bodyPr wrap="square" rtlCol="0" anchor="ctr"/>
          <a:lstStyle/>
          <a:p>
            <a:pPr marL="0" indent="0">
              <a:buNone/>
            </a:pPr>
            <a:r>
              <a:rPr lang="en-US" sz="1300" b="1" dirty="0">
                <a:solidFill>
                  <a:srgbClr val="1A2C5B"/>
                </a:solidFill>
                <a:latin typeface="Cambria" pitchFamily="34" charset="0"/>
                <a:ea typeface="Cambria" pitchFamily="34" charset="-122"/>
                <a:cs typeface="Cambria" pitchFamily="34" charset="-120"/>
              </a:rPr>
              <a:t>Commit History</a:t>
            </a:r>
            <a:endParaRPr lang="en-US" sz="1300" dirty="0"/>
          </a:p>
        </p:txBody>
      </p:sp>
      <p:sp>
        <p:nvSpPr>
          <p:cNvPr id="22" name="Shape 20"/>
          <p:cNvSpPr/>
          <p:nvPr/>
        </p:nvSpPr>
        <p:spPr>
          <a:xfrm>
            <a:off x="4864608" y="1417320"/>
            <a:ext cx="128016" cy="128016"/>
          </a:xfrm>
          <a:prstGeom prst="ellipse">
            <a:avLst/>
          </a:prstGeom>
          <a:solidFill>
            <a:srgbClr val="0D7377"/>
          </a:solidFill>
          <a:ln w="12700">
            <a:solidFill>
              <a:srgbClr val="0D7377"/>
            </a:solidFill>
            <a:prstDash val="solid"/>
          </a:ln>
        </p:spPr>
      </p:sp>
      <p:sp>
        <p:nvSpPr>
          <p:cNvPr id="23" name="Text 21"/>
          <p:cNvSpPr/>
          <p:nvPr/>
        </p:nvSpPr>
        <p:spPr>
          <a:xfrm>
            <a:off x="5065776" y="1389888"/>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#1  – Initial repo + README</a:t>
            </a:r>
            <a:endParaRPr lang="en-US" sz="950" dirty="0"/>
          </a:p>
        </p:txBody>
      </p:sp>
      <p:sp>
        <p:nvSpPr>
          <p:cNvPr id="24" name="Shape 22"/>
          <p:cNvSpPr/>
          <p:nvPr/>
        </p:nvSpPr>
        <p:spPr>
          <a:xfrm>
            <a:off x="4864608" y="1664208"/>
            <a:ext cx="128016" cy="128016"/>
          </a:xfrm>
          <a:prstGeom prst="ellipse">
            <a:avLst/>
          </a:prstGeom>
          <a:solidFill>
            <a:srgbClr val="0D7377"/>
          </a:solidFill>
          <a:ln w="12700">
            <a:solidFill>
              <a:srgbClr val="0D7377"/>
            </a:solidFill>
            <a:prstDash val="solid"/>
          </a:ln>
        </p:spPr>
      </p:sp>
      <p:sp>
        <p:nvSpPr>
          <p:cNvPr id="25" name="Text 23"/>
          <p:cNvSpPr/>
          <p:nvPr/>
        </p:nvSpPr>
        <p:spPr>
          <a:xfrm>
            <a:off x="5065776" y="1636776"/>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#2  – Firmware: main.c + config.h</a:t>
            </a:r>
            <a:endParaRPr lang="en-US" sz="950" dirty="0"/>
          </a:p>
        </p:txBody>
      </p:sp>
      <p:sp>
        <p:nvSpPr>
          <p:cNvPr id="26" name="Shape 24"/>
          <p:cNvSpPr/>
          <p:nvPr/>
        </p:nvSpPr>
        <p:spPr>
          <a:xfrm>
            <a:off x="4864608" y="1911096"/>
            <a:ext cx="128016" cy="128016"/>
          </a:xfrm>
          <a:prstGeom prst="ellipse">
            <a:avLst/>
          </a:prstGeom>
          <a:solidFill>
            <a:srgbClr val="0D7377"/>
          </a:solidFill>
          <a:ln w="12700">
            <a:solidFill>
              <a:srgbClr val="0D7377"/>
            </a:solidFill>
            <a:prstDash val="solid"/>
          </a:ln>
        </p:spPr>
      </p:sp>
      <p:sp>
        <p:nvSpPr>
          <p:cNvPr id="27" name="Text 25"/>
          <p:cNvSpPr/>
          <p:nvPr/>
        </p:nvSpPr>
        <p:spPr>
          <a:xfrm>
            <a:off x="5065776" y="1883664"/>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#3  – KiCad schematic</a:t>
            </a:r>
            <a:endParaRPr lang="en-US" sz="950" dirty="0"/>
          </a:p>
        </p:txBody>
      </p:sp>
      <p:sp>
        <p:nvSpPr>
          <p:cNvPr id="28" name="Shape 26"/>
          <p:cNvSpPr/>
          <p:nvPr/>
        </p:nvSpPr>
        <p:spPr>
          <a:xfrm>
            <a:off x="4864608" y="2157984"/>
            <a:ext cx="128016" cy="128016"/>
          </a:xfrm>
          <a:prstGeom prst="ellipse">
            <a:avLst/>
          </a:prstGeom>
          <a:solidFill>
            <a:srgbClr val="0D7377"/>
          </a:solidFill>
          <a:ln w="12700">
            <a:solidFill>
              <a:srgbClr val="0D7377"/>
            </a:solidFill>
            <a:prstDash val="solid"/>
          </a:ln>
        </p:spPr>
      </p:sp>
      <p:sp>
        <p:nvSpPr>
          <p:cNvPr id="29" name="Text 27"/>
          <p:cNvSpPr/>
          <p:nvPr/>
        </p:nvSpPr>
        <p:spPr>
          <a:xfrm>
            <a:off x="5065776" y="2130552"/>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#4  – PCB layout + 3D screenshots</a:t>
            </a:r>
            <a:endParaRPr lang="en-US" sz="950" dirty="0"/>
          </a:p>
        </p:txBody>
      </p:sp>
      <p:sp>
        <p:nvSpPr>
          <p:cNvPr id="30" name="Shape 28"/>
          <p:cNvSpPr/>
          <p:nvPr/>
        </p:nvSpPr>
        <p:spPr>
          <a:xfrm>
            <a:off x="4864608" y="2404872"/>
            <a:ext cx="128016" cy="128016"/>
          </a:xfrm>
          <a:prstGeom prst="ellipse">
            <a:avLst/>
          </a:prstGeom>
          <a:solidFill>
            <a:srgbClr val="0D7377"/>
          </a:solidFill>
          <a:ln w="12700">
            <a:solidFill>
              <a:srgbClr val="0D7377"/>
            </a:solidFill>
            <a:prstDash val="solid"/>
          </a:ln>
        </p:spPr>
      </p:sp>
      <p:sp>
        <p:nvSpPr>
          <p:cNvPr id="31" name="Text 29"/>
          <p:cNvSpPr/>
          <p:nvPr/>
        </p:nvSpPr>
        <p:spPr>
          <a:xfrm>
            <a:off x="5065776" y="2377440"/>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#5  – Gerber manufacturing files</a:t>
            </a:r>
            <a:endParaRPr lang="en-US" sz="950" dirty="0"/>
          </a:p>
        </p:txBody>
      </p:sp>
      <p:sp>
        <p:nvSpPr>
          <p:cNvPr id="32" name="Shape 30"/>
          <p:cNvSpPr/>
          <p:nvPr/>
        </p:nvSpPr>
        <p:spPr>
          <a:xfrm>
            <a:off x="4864608" y="2651760"/>
            <a:ext cx="128016" cy="128016"/>
          </a:xfrm>
          <a:prstGeom prst="ellipse">
            <a:avLst/>
          </a:prstGeom>
          <a:solidFill>
            <a:srgbClr val="0D7377"/>
          </a:solidFill>
          <a:ln w="12700">
            <a:solidFill>
              <a:srgbClr val="0D7377"/>
            </a:solidFill>
            <a:prstDash val="solid"/>
          </a:ln>
        </p:spPr>
      </p:sp>
      <p:sp>
        <p:nvSpPr>
          <p:cNvPr id="33" name="Text 31"/>
          <p:cNvSpPr/>
          <p:nvPr/>
        </p:nvSpPr>
        <p:spPr>
          <a:xfrm>
            <a:off x="5065776" y="2624328"/>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#6  – Compiled HEX file</a:t>
            </a:r>
            <a:endParaRPr lang="en-US" sz="950" dirty="0"/>
          </a:p>
        </p:txBody>
      </p:sp>
      <p:sp>
        <p:nvSpPr>
          <p:cNvPr id="34" name="Shape 32"/>
          <p:cNvSpPr/>
          <p:nvPr/>
        </p:nvSpPr>
        <p:spPr>
          <a:xfrm>
            <a:off x="4864608" y="2898648"/>
            <a:ext cx="128016" cy="128016"/>
          </a:xfrm>
          <a:prstGeom prst="ellipse">
            <a:avLst/>
          </a:prstGeom>
          <a:solidFill>
            <a:srgbClr val="0D7377"/>
          </a:solidFill>
          <a:ln w="12700">
            <a:solidFill>
              <a:srgbClr val="0D7377"/>
            </a:solidFill>
            <a:prstDash val="solid"/>
          </a:ln>
        </p:spPr>
      </p:sp>
      <p:sp>
        <p:nvSpPr>
          <p:cNvPr id="35" name="Text 33"/>
          <p:cNvSpPr/>
          <p:nvPr/>
        </p:nvSpPr>
        <p:spPr>
          <a:xfrm>
            <a:off x="5065776" y="2871216"/>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#7  – SimulIDE circuit + test screenshots</a:t>
            </a:r>
            <a:endParaRPr lang="en-US" sz="950" dirty="0"/>
          </a:p>
        </p:txBody>
      </p:sp>
      <p:sp>
        <p:nvSpPr>
          <p:cNvPr id="36" name="Shape 34"/>
          <p:cNvSpPr/>
          <p:nvPr/>
        </p:nvSpPr>
        <p:spPr>
          <a:xfrm>
            <a:off x="4864608" y="3145536"/>
            <a:ext cx="128016" cy="128016"/>
          </a:xfrm>
          <a:prstGeom prst="ellipse">
            <a:avLst/>
          </a:prstGeom>
          <a:solidFill>
            <a:srgbClr val="0D7377"/>
          </a:solidFill>
          <a:ln w="12700">
            <a:solidFill>
              <a:srgbClr val="0D7377"/>
            </a:solidFill>
            <a:prstDash val="solid"/>
          </a:ln>
        </p:spPr>
      </p:sp>
      <p:sp>
        <p:nvSpPr>
          <p:cNvPr id="37" name="Text 35"/>
          <p:cNvSpPr/>
          <p:nvPr/>
        </p:nvSpPr>
        <p:spPr>
          <a:xfrm>
            <a:off x="5065776" y="3118104"/>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#8  – ADC calculation documentation</a:t>
            </a:r>
            <a:endParaRPr lang="en-US" sz="950" dirty="0"/>
          </a:p>
        </p:txBody>
      </p:sp>
      <p:sp>
        <p:nvSpPr>
          <p:cNvPr id="38" name="Shape 36"/>
          <p:cNvSpPr/>
          <p:nvPr/>
        </p:nvSpPr>
        <p:spPr>
          <a:xfrm>
            <a:off x="4864608" y="3392424"/>
            <a:ext cx="128016" cy="128016"/>
          </a:xfrm>
          <a:prstGeom prst="ellipse">
            <a:avLst/>
          </a:prstGeom>
          <a:solidFill>
            <a:srgbClr val="0D7377"/>
          </a:solidFill>
          <a:ln w="12700">
            <a:solidFill>
              <a:srgbClr val="0D7377"/>
            </a:solidFill>
            <a:prstDash val="solid"/>
          </a:ln>
        </p:spPr>
      </p:sp>
      <p:sp>
        <p:nvSpPr>
          <p:cNvPr id="39" name="Text 37"/>
          <p:cNvSpPr/>
          <p:nvPr/>
        </p:nvSpPr>
        <p:spPr>
          <a:xfrm>
            <a:off x="5065776" y="3364992"/>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#9  – Pin mapping + test results</a:t>
            </a:r>
            <a:endParaRPr lang="en-US" sz="950" dirty="0"/>
          </a:p>
        </p:txBody>
      </p:sp>
      <p:sp>
        <p:nvSpPr>
          <p:cNvPr id="40" name="Shape 38"/>
          <p:cNvSpPr/>
          <p:nvPr/>
        </p:nvSpPr>
        <p:spPr>
          <a:xfrm>
            <a:off x="4864608" y="3639312"/>
            <a:ext cx="128016" cy="128016"/>
          </a:xfrm>
          <a:prstGeom prst="ellipse">
            <a:avLst/>
          </a:prstGeom>
          <a:solidFill>
            <a:srgbClr val="0D7377"/>
          </a:solidFill>
          <a:ln w="12700">
            <a:solidFill>
              <a:srgbClr val="0D7377"/>
            </a:solidFill>
            <a:prstDash val="solid"/>
          </a:ln>
        </p:spPr>
      </p:sp>
      <p:sp>
        <p:nvSpPr>
          <p:cNvPr id="41" name="Text 39"/>
          <p:cNvSpPr/>
          <p:nvPr/>
        </p:nvSpPr>
        <p:spPr>
          <a:xfrm>
            <a:off x="5065776" y="3611880"/>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#10 – Block diagram + flowchart</a:t>
            </a:r>
            <a:endParaRPr lang="en-US" sz="950" dirty="0"/>
          </a:p>
        </p:txBody>
      </p:sp>
      <p:sp>
        <p:nvSpPr>
          <p:cNvPr id="42" name="Shape 40"/>
          <p:cNvSpPr/>
          <p:nvPr/>
        </p:nvSpPr>
        <p:spPr>
          <a:xfrm>
            <a:off x="4864608" y="3886200"/>
            <a:ext cx="128016" cy="128016"/>
          </a:xfrm>
          <a:prstGeom prst="ellipse">
            <a:avLst/>
          </a:prstGeom>
          <a:solidFill>
            <a:srgbClr val="0D7377"/>
          </a:solidFill>
          <a:ln w="12700">
            <a:solidFill>
              <a:srgbClr val="0D7377"/>
            </a:solidFill>
            <a:prstDash val="solid"/>
          </a:ln>
        </p:spPr>
      </p:sp>
      <p:sp>
        <p:nvSpPr>
          <p:cNvPr id="43" name="Text 41"/>
          <p:cNvSpPr/>
          <p:nvPr/>
        </p:nvSpPr>
        <p:spPr>
          <a:xfrm>
            <a:off x="5065776" y="3858768"/>
            <a:ext cx="3520440"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#11 – Demonstration video link</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A2C5B"/>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0D7377">
              <a:alpha val="18000"/>
            </a:srgbClr>
          </a:solidFill>
          <a:ln w="12700">
            <a:solidFill>
              <a:srgbClr val="0D7377">
                <a:alpha val="20000"/>
              </a:srgbClr>
            </a:solidFill>
            <a:prstDash val="solid"/>
          </a:ln>
        </p:spPr>
      </p:sp>
      <p:sp>
        <p:nvSpPr>
          <p:cNvPr id="3" name="Shape 1"/>
          <p:cNvSpPr/>
          <p:nvPr/>
        </p:nvSpPr>
        <p:spPr>
          <a:xfrm>
            <a:off x="-1097280" y="3200400"/>
            <a:ext cx="3200400" cy="3200400"/>
          </a:xfrm>
          <a:prstGeom prst="ellipse">
            <a:avLst/>
          </a:prstGeom>
          <a:solidFill>
            <a:srgbClr val="0D7377">
              <a:alpha val="15000"/>
            </a:srgbClr>
          </a:solidFill>
          <a:ln w="12700">
            <a:solidFill>
              <a:srgbClr val="0D7377">
                <a:alpha val="18000"/>
              </a:srgbClr>
            </a:solidFill>
            <a:prstDash val="solid"/>
          </a:ln>
        </p:spPr>
      </p:sp>
      <p:sp>
        <p:nvSpPr>
          <p:cNvPr id="4" name="Text 2"/>
          <p:cNvSpPr/>
          <p:nvPr/>
        </p:nvSpPr>
        <p:spPr>
          <a:xfrm>
            <a:off x="548640" y="274320"/>
            <a:ext cx="8046720" cy="530352"/>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Shape 3"/>
          <p:cNvSpPr/>
          <p:nvPr/>
        </p:nvSpPr>
        <p:spPr>
          <a:xfrm>
            <a:off x="548640" y="841248"/>
            <a:ext cx="2926080" cy="45720"/>
          </a:xfrm>
          <a:prstGeom prst="rect">
            <a:avLst/>
          </a:prstGeom>
          <a:solidFill>
            <a:srgbClr val="0D7377"/>
          </a:solidFill>
          <a:ln w="12700">
            <a:solidFill>
              <a:srgbClr val="0D7377"/>
            </a:solidFill>
            <a:prstDash val="solid"/>
          </a:ln>
        </p:spPr>
      </p:sp>
      <p:sp>
        <p:nvSpPr>
          <p:cNvPr id="6" name="Shape 4"/>
          <p:cNvSpPr/>
          <p:nvPr/>
        </p:nvSpPr>
        <p:spPr>
          <a:xfrm>
            <a:off x="548640" y="987552"/>
            <a:ext cx="1920240" cy="868680"/>
          </a:xfrm>
          <a:prstGeom prst="roundRect">
            <a:avLst>
              <a:gd name="adj" fmla="val 8421"/>
            </a:avLst>
          </a:prstGeom>
          <a:solidFill>
            <a:srgbClr val="0D7377">
              <a:alpha val="20000"/>
            </a:srgbClr>
          </a:solidFill>
          <a:ln w="12700">
            <a:solidFill>
              <a:srgbClr val="0D7377">
                <a:alpha val="40000"/>
              </a:srgbClr>
            </a:solidFill>
            <a:prstDash val="solid"/>
          </a:ln>
        </p:spPr>
      </p:sp>
      <p:sp>
        <p:nvSpPr>
          <p:cNvPr id="7" name="Text 5"/>
          <p:cNvSpPr/>
          <p:nvPr/>
        </p:nvSpPr>
        <p:spPr>
          <a:xfrm>
            <a:off x="548640" y="1005840"/>
            <a:ext cx="1920240" cy="475488"/>
          </a:xfrm>
          <a:prstGeom prst="rect">
            <a:avLst/>
          </a:prstGeom>
          <a:noFill/>
          <a:ln/>
        </p:spPr>
        <p:txBody>
          <a:bodyPr wrap="square" rtlCol="0" anchor="ctr"/>
          <a:lstStyle/>
          <a:p>
            <a:pPr marL="0" indent="0" algn="ctr">
              <a:buNone/>
            </a:pPr>
            <a:r>
              <a:rPr lang="en-US" sz="2800" b="1" dirty="0">
                <a:solidFill>
                  <a:srgbClr val="E07B39"/>
                </a:solidFill>
                <a:latin typeface="Cambria" pitchFamily="34" charset="0"/>
                <a:ea typeface="Cambria" pitchFamily="34" charset="-122"/>
                <a:cs typeface="Cambria" pitchFamily="34" charset="-120"/>
              </a:rPr>
              <a:t>10/10</a:t>
            </a:r>
            <a:endParaRPr lang="en-US" sz="2800" dirty="0"/>
          </a:p>
        </p:txBody>
      </p:sp>
      <p:sp>
        <p:nvSpPr>
          <p:cNvPr id="8" name="Text 6"/>
          <p:cNvSpPr/>
          <p:nvPr/>
        </p:nvSpPr>
        <p:spPr>
          <a:xfrm>
            <a:off x="548640" y="1463040"/>
            <a:ext cx="1920240" cy="274320"/>
          </a:xfrm>
          <a:prstGeom prst="rect">
            <a:avLst/>
          </a:prstGeom>
          <a:noFill/>
          <a:ln/>
        </p:spPr>
        <p:txBody>
          <a:bodyPr wrap="square" rtlCol="0" anchor="ctr"/>
          <a:lstStyle/>
          <a:p>
            <a:pPr marL="0" indent="0" algn="ctr">
              <a:buNone/>
            </a:pPr>
            <a:r>
              <a:rPr lang="en-US" sz="950" dirty="0">
                <a:solidFill>
                  <a:srgbClr val="C0D8E8"/>
                </a:solidFill>
                <a:latin typeface="Calibri" pitchFamily="34" charset="0"/>
                <a:ea typeface="Calibri" pitchFamily="34" charset="-122"/>
                <a:cs typeface="Calibri" pitchFamily="34" charset="-120"/>
              </a:rPr>
              <a:t>Tasks Completed</a:t>
            </a:r>
            <a:endParaRPr lang="en-US" sz="950" dirty="0"/>
          </a:p>
        </p:txBody>
      </p:sp>
      <p:sp>
        <p:nvSpPr>
          <p:cNvPr id="9" name="Shape 7"/>
          <p:cNvSpPr/>
          <p:nvPr/>
        </p:nvSpPr>
        <p:spPr>
          <a:xfrm>
            <a:off x="2697480" y="987552"/>
            <a:ext cx="1920240" cy="868680"/>
          </a:xfrm>
          <a:prstGeom prst="roundRect">
            <a:avLst>
              <a:gd name="adj" fmla="val 8421"/>
            </a:avLst>
          </a:prstGeom>
          <a:solidFill>
            <a:srgbClr val="0D7377">
              <a:alpha val="20000"/>
            </a:srgbClr>
          </a:solidFill>
          <a:ln w="12700">
            <a:solidFill>
              <a:srgbClr val="0D7377">
                <a:alpha val="40000"/>
              </a:srgbClr>
            </a:solidFill>
            <a:prstDash val="solid"/>
          </a:ln>
        </p:spPr>
      </p:sp>
      <p:sp>
        <p:nvSpPr>
          <p:cNvPr id="10" name="Text 8"/>
          <p:cNvSpPr/>
          <p:nvPr/>
        </p:nvSpPr>
        <p:spPr>
          <a:xfrm>
            <a:off x="2697480" y="1005840"/>
            <a:ext cx="1920240" cy="475488"/>
          </a:xfrm>
          <a:prstGeom prst="rect">
            <a:avLst/>
          </a:prstGeom>
          <a:noFill/>
          <a:ln/>
        </p:spPr>
        <p:txBody>
          <a:bodyPr wrap="square" rtlCol="0" anchor="ctr"/>
          <a:lstStyle/>
          <a:p>
            <a:pPr marL="0" indent="0" algn="ctr">
              <a:buNone/>
            </a:pPr>
            <a:r>
              <a:rPr lang="en-US" sz="2800" b="1" dirty="0">
                <a:solidFill>
                  <a:srgbClr val="E07B39"/>
                </a:solidFill>
                <a:latin typeface="Cambria" pitchFamily="34" charset="0"/>
                <a:ea typeface="Cambria" pitchFamily="34" charset="-122"/>
                <a:cs typeface="Cambria" pitchFamily="34" charset="-120"/>
              </a:rPr>
              <a:t>8/8</a:t>
            </a:r>
            <a:endParaRPr lang="en-US" sz="2800" dirty="0"/>
          </a:p>
        </p:txBody>
      </p:sp>
      <p:sp>
        <p:nvSpPr>
          <p:cNvPr id="11" name="Text 9"/>
          <p:cNvSpPr/>
          <p:nvPr/>
        </p:nvSpPr>
        <p:spPr>
          <a:xfrm>
            <a:off x="2697480" y="1463040"/>
            <a:ext cx="1920240" cy="274320"/>
          </a:xfrm>
          <a:prstGeom prst="rect">
            <a:avLst/>
          </a:prstGeom>
          <a:noFill/>
          <a:ln/>
        </p:spPr>
        <p:txBody>
          <a:bodyPr wrap="square" rtlCol="0" anchor="ctr"/>
          <a:lstStyle/>
          <a:p>
            <a:pPr marL="0" indent="0" algn="ctr">
              <a:buNone/>
            </a:pPr>
            <a:r>
              <a:rPr lang="en-US" sz="950" dirty="0">
                <a:solidFill>
                  <a:srgbClr val="C0D8E8"/>
                </a:solidFill>
                <a:latin typeface="Calibri" pitchFamily="34" charset="0"/>
                <a:ea typeface="Calibri" pitchFamily="34" charset="-122"/>
                <a:cs typeface="Calibri" pitchFamily="34" charset="-120"/>
              </a:rPr>
              <a:t>Test Cases Passed</a:t>
            </a:r>
            <a:endParaRPr lang="en-US" sz="950" dirty="0"/>
          </a:p>
        </p:txBody>
      </p:sp>
      <p:sp>
        <p:nvSpPr>
          <p:cNvPr id="12" name="Shape 10"/>
          <p:cNvSpPr/>
          <p:nvPr/>
        </p:nvSpPr>
        <p:spPr>
          <a:xfrm>
            <a:off x="4846320" y="987552"/>
            <a:ext cx="1920240" cy="868680"/>
          </a:xfrm>
          <a:prstGeom prst="roundRect">
            <a:avLst>
              <a:gd name="adj" fmla="val 8421"/>
            </a:avLst>
          </a:prstGeom>
          <a:solidFill>
            <a:srgbClr val="0D7377">
              <a:alpha val="20000"/>
            </a:srgbClr>
          </a:solidFill>
          <a:ln w="12700">
            <a:solidFill>
              <a:srgbClr val="0D7377">
                <a:alpha val="40000"/>
              </a:srgbClr>
            </a:solidFill>
            <a:prstDash val="solid"/>
          </a:ln>
        </p:spPr>
      </p:sp>
      <p:sp>
        <p:nvSpPr>
          <p:cNvPr id="13" name="Text 11"/>
          <p:cNvSpPr/>
          <p:nvPr/>
        </p:nvSpPr>
        <p:spPr>
          <a:xfrm>
            <a:off x="4846320" y="1005840"/>
            <a:ext cx="1920240" cy="475488"/>
          </a:xfrm>
          <a:prstGeom prst="rect">
            <a:avLst/>
          </a:prstGeom>
          <a:noFill/>
          <a:ln/>
        </p:spPr>
        <p:txBody>
          <a:bodyPr wrap="square" rtlCol="0" anchor="ctr"/>
          <a:lstStyle/>
          <a:p>
            <a:pPr marL="0" indent="0" algn="ctr">
              <a:buNone/>
            </a:pPr>
            <a:r>
              <a:rPr lang="en-US" sz="2800" b="1" dirty="0">
                <a:solidFill>
                  <a:srgbClr val="E07B39"/>
                </a:solidFill>
                <a:latin typeface="Cambria" pitchFamily="34" charset="0"/>
                <a:ea typeface="Cambria" pitchFamily="34" charset="-122"/>
                <a:cs typeface="Cambria" pitchFamily="34" charset="-120"/>
              </a:rPr>
              <a:t>11</a:t>
            </a:r>
            <a:endParaRPr lang="en-US" sz="2800" dirty="0"/>
          </a:p>
        </p:txBody>
      </p:sp>
      <p:sp>
        <p:nvSpPr>
          <p:cNvPr id="14" name="Text 12"/>
          <p:cNvSpPr/>
          <p:nvPr/>
        </p:nvSpPr>
        <p:spPr>
          <a:xfrm>
            <a:off x="4846320" y="1463040"/>
            <a:ext cx="1920240" cy="274320"/>
          </a:xfrm>
          <a:prstGeom prst="rect">
            <a:avLst/>
          </a:prstGeom>
          <a:noFill/>
          <a:ln/>
        </p:spPr>
        <p:txBody>
          <a:bodyPr wrap="square" rtlCol="0" anchor="ctr"/>
          <a:lstStyle/>
          <a:p>
            <a:pPr marL="0" indent="0" algn="ctr">
              <a:buNone/>
            </a:pPr>
            <a:r>
              <a:rPr lang="en-US" sz="950" dirty="0">
                <a:solidFill>
                  <a:srgbClr val="C0D8E8"/>
                </a:solidFill>
                <a:latin typeface="Calibri" pitchFamily="34" charset="0"/>
                <a:ea typeface="Calibri" pitchFamily="34" charset="-122"/>
                <a:cs typeface="Calibri" pitchFamily="34" charset="-120"/>
              </a:rPr>
              <a:t>Git Commits</a:t>
            </a:r>
            <a:endParaRPr lang="en-US" sz="950" dirty="0"/>
          </a:p>
        </p:txBody>
      </p:sp>
      <p:sp>
        <p:nvSpPr>
          <p:cNvPr id="15" name="Shape 13"/>
          <p:cNvSpPr/>
          <p:nvPr/>
        </p:nvSpPr>
        <p:spPr>
          <a:xfrm>
            <a:off x="6995160" y="987552"/>
            <a:ext cx="1920240" cy="868680"/>
          </a:xfrm>
          <a:prstGeom prst="roundRect">
            <a:avLst>
              <a:gd name="adj" fmla="val 8421"/>
            </a:avLst>
          </a:prstGeom>
          <a:solidFill>
            <a:srgbClr val="0D7377">
              <a:alpha val="20000"/>
            </a:srgbClr>
          </a:solidFill>
          <a:ln w="12700">
            <a:solidFill>
              <a:srgbClr val="0D7377">
                <a:alpha val="40000"/>
              </a:srgbClr>
            </a:solidFill>
            <a:prstDash val="solid"/>
          </a:ln>
        </p:spPr>
      </p:sp>
      <p:sp>
        <p:nvSpPr>
          <p:cNvPr id="16" name="Text 14"/>
          <p:cNvSpPr/>
          <p:nvPr/>
        </p:nvSpPr>
        <p:spPr>
          <a:xfrm>
            <a:off x="6995160" y="1005840"/>
            <a:ext cx="1920240" cy="475488"/>
          </a:xfrm>
          <a:prstGeom prst="rect">
            <a:avLst/>
          </a:prstGeom>
          <a:noFill/>
          <a:ln/>
        </p:spPr>
        <p:txBody>
          <a:bodyPr wrap="square" rtlCol="0" anchor="ctr"/>
          <a:lstStyle/>
          <a:p>
            <a:pPr marL="0" indent="0" algn="ctr">
              <a:buNone/>
            </a:pPr>
            <a:r>
              <a:rPr lang="en-US" sz="2800" b="1" dirty="0">
                <a:solidFill>
                  <a:srgbClr val="E07B39"/>
                </a:solidFill>
                <a:latin typeface="Cambria" pitchFamily="34" charset="0"/>
                <a:ea typeface="Cambria" pitchFamily="34" charset="-122"/>
                <a:cs typeface="Cambria" pitchFamily="34" charset="-120"/>
              </a:rPr>
              <a:t>7</a:t>
            </a:r>
            <a:endParaRPr lang="en-US" sz="2800" dirty="0"/>
          </a:p>
        </p:txBody>
      </p:sp>
      <p:sp>
        <p:nvSpPr>
          <p:cNvPr id="17" name="Text 15"/>
          <p:cNvSpPr/>
          <p:nvPr/>
        </p:nvSpPr>
        <p:spPr>
          <a:xfrm>
            <a:off x="6995160" y="1463040"/>
            <a:ext cx="1920240" cy="274320"/>
          </a:xfrm>
          <a:prstGeom prst="rect">
            <a:avLst/>
          </a:prstGeom>
          <a:noFill/>
          <a:ln/>
        </p:spPr>
        <p:txBody>
          <a:bodyPr wrap="square" rtlCol="0" anchor="ctr"/>
          <a:lstStyle/>
          <a:p>
            <a:pPr marL="0" indent="0" algn="ctr">
              <a:buNone/>
            </a:pPr>
            <a:r>
              <a:rPr lang="en-US" sz="950" dirty="0">
                <a:solidFill>
                  <a:srgbClr val="C0D8E8"/>
                </a:solidFill>
                <a:latin typeface="Calibri" pitchFamily="34" charset="0"/>
                <a:ea typeface="Calibri" pitchFamily="34" charset="-122"/>
                <a:cs typeface="Calibri" pitchFamily="34" charset="-120"/>
              </a:rPr>
              <a:t>Gerber Layers</a:t>
            </a:r>
            <a:endParaRPr lang="en-US" sz="950" dirty="0"/>
          </a:p>
        </p:txBody>
      </p:sp>
      <p:sp>
        <p:nvSpPr>
          <p:cNvPr id="18" name="Text 16"/>
          <p:cNvSpPr/>
          <p:nvPr/>
        </p:nvSpPr>
        <p:spPr>
          <a:xfrm>
            <a:off x="548640" y="2011680"/>
            <a:ext cx="8046720" cy="329184"/>
          </a:xfrm>
          <a:prstGeom prst="rect">
            <a:avLst/>
          </a:prstGeom>
          <a:noFill/>
          <a:ln/>
        </p:spPr>
        <p:txBody>
          <a:bodyPr wrap="square" rtlCol="0" anchor="ctr"/>
          <a:lstStyle/>
          <a:p>
            <a:pPr marL="0" indent="0">
              <a:buNone/>
            </a:pPr>
            <a:r>
              <a:rPr lang="en-US" sz="1500" b="1" dirty="0">
                <a:solidFill>
                  <a:srgbClr val="0D7377"/>
                </a:solidFill>
                <a:latin typeface="Cambria" pitchFamily="34" charset="0"/>
                <a:ea typeface="Cambria" pitchFamily="34" charset="-122"/>
                <a:cs typeface="Cambria" pitchFamily="34" charset="-120"/>
              </a:rPr>
              <a:t>Key Learning Outcomes</a:t>
            </a:r>
            <a:endParaRPr lang="en-US" sz="1500" dirty="0"/>
          </a:p>
        </p:txBody>
      </p:sp>
      <p:sp>
        <p:nvSpPr>
          <p:cNvPr id="19" name="Text 17"/>
          <p:cNvSpPr/>
          <p:nvPr/>
        </p:nvSpPr>
        <p:spPr>
          <a:xfrm>
            <a:off x="548640" y="2423160"/>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ATmega32 ADC configuration using ADMUX &amp; ADCSRA registers</a:t>
            </a:r>
            <a:endParaRPr lang="en-US" sz="1150" dirty="0"/>
          </a:p>
        </p:txBody>
      </p:sp>
      <p:sp>
        <p:nvSpPr>
          <p:cNvPr id="20" name="Text 18"/>
          <p:cNvSpPr/>
          <p:nvPr/>
        </p:nvSpPr>
        <p:spPr>
          <a:xfrm>
            <a:off x="548640" y="3026664"/>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Analog sensor interfacing — LM35 precision temperature sensor</a:t>
            </a:r>
            <a:endParaRPr lang="en-US" sz="1150" dirty="0"/>
          </a:p>
        </p:txBody>
      </p:sp>
      <p:sp>
        <p:nvSpPr>
          <p:cNvPr id="21" name="Text 19"/>
          <p:cNvSpPr/>
          <p:nvPr/>
        </p:nvSpPr>
        <p:spPr>
          <a:xfrm>
            <a:off x="548640" y="3630168"/>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Integer-based ADC-to-temperature conversion (no floating point overhead)</a:t>
            </a:r>
            <a:endParaRPr lang="en-US" sz="1150" dirty="0"/>
          </a:p>
        </p:txBody>
      </p:sp>
      <p:sp>
        <p:nvSpPr>
          <p:cNvPr id="22" name="Text 20"/>
          <p:cNvSpPr/>
          <p:nvPr/>
        </p:nvSpPr>
        <p:spPr>
          <a:xfrm>
            <a:off x="548640" y="4233672"/>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GPIO output control for LEDs and buzzer via DDRB &amp; PORTB registers</a:t>
            </a:r>
            <a:endParaRPr lang="en-US" sz="1150" dirty="0"/>
          </a:p>
        </p:txBody>
      </p:sp>
      <p:sp>
        <p:nvSpPr>
          <p:cNvPr id="23" name="Text 21"/>
          <p:cNvSpPr/>
          <p:nvPr/>
        </p:nvSpPr>
        <p:spPr>
          <a:xfrm>
            <a:off x="4846320" y="2423160"/>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USART initialization and character transmission for serial data logging</a:t>
            </a:r>
            <a:endParaRPr lang="en-US" sz="1150" dirty="0"/>
          </a:p>
        </p:txBody>
      </p:sp>
      <p:sp>
        <p:nvSpPr>
          <p:cNvPr id="24" name="Text 22"/>
          <p:cNvSpPr/>
          <p:nvPr/>
        </p:nvSpPr>
        <p:spPr>
          <a:xfrm>
            <a:off x="4846320" y="3026664"/>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KiCad schematic &amp; PCB design including analog signal routing best practices</a:t>
            </a:r>
            <a:endParaRPr lang="en-US" sz="1150" dirty="0"/>
          </a:p>
        </p:txBody>
      </p:sp>
      <p:sp>
        <p:nvSpPr>
          <p:cNvPr id="25" name="Text 23"/>
          <p:cNvSpPr/>
          <p:nvPr/>
        </p:nvSpPr>
        <p:spPr>
          <a:xfrm>
            <a:off x="4846320" y="3630168"/>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SimulIDE circuit simulation for firmware validation without physical hardware</a:t>
            </a:r>
            <a:endParaRPr lang="en-US" sz="1150" dirty="0"/>
          </a:p>
        </p:txBody>
      </p:sp>
      <p:sp>
        <p:nvSpPr>
          <p:cNvPr id="26" name="Text 24"/>
          <p:cNvSpPr/>
          <p:nvPr/>
        </p:nvSpPr>
        <p:spPr>
          <a:xfrm>
            <a:off x="4846320" y="4233672"/>
            <a:ext cx="4069080" cy="530352"/>
          </a:xfrm>
          <a:prstGeom prst="rect">
            <a:avLst/>
          </a:prstGeom>
          <a:noFill/>
          <a:ln/>
        </p:spPr>
        <p:txBody>
          <a:bodyPr wrap="square" rtlCol="0" anchor="t"/>
          <a:lstStyle/>
          <a:p>
            <a:pPr marL="0" indent="0">
              <a:buNone/>
            </a:pPr>
            <a:r>
              <a:rPr lang="en-US" sz="1150" b="1" dirty="0">
                <a:solidFill>
                  <a:srgbClr val="E07B39"/>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Professional documentation and GitHub version control practices</a:t>
            </a:r>
            <a:endParaRPr lang="en-US" sz="1150" dirty="0"/>
          </a:p>
        </p:txBody>
      </p:sp>
      <p:sp>
        <p:nvSpPr>
          <p:cNvPr id="27" name="Text 25"/>
          <p:cNvSpPr/>
          <p:nvPr/>
        </p:nvSpPr>
        <p:spPr>
          <a:xfrm>
            <a:off x="548640" y="4828032"/>
            <a:ext cx="8046720" cy="237744"/>
          </a:xfrm>
          <a:prstGeom prst="rect">
            <a:avLst/>
          </a:prstGeom>
          <a:noFill/>
          <a:ln/>
        </p:spPr>
        <p:txBody>
          <a:bodyPr wrap="square" rtlCol="0" anchor="ctr"/>
          <a:lstStyle/>
          <a:p>
            <a:pPr marL="0" indent="0" algn="ctr">
              <a:buNone/>
            </a:pPr>
            <a:r>
              <a:rPr lang="en-US" sz="950" dirty="0">
                <a:solidFill>
                  <a:srgbClr val="6A8FA8"/>
                </a:solidFill>
                <a:latin typeface="Calibri" pitchFamily="34" charset="0"/>
                <a:ea typeface="Calibri" pitchFamily="34" charset="-122"/>
                <a:cs typeface="Calibri" pitchFamily="34" charset="-120"/>
              </a:rPr>
              <a:t>University of Dodoma (CIVE)  ·  CG 221  ·  Group 2  ·  2025/2026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1967</Words>
  <Application>Microsoft Office PowerPoint</Application>
  <PresentationFormat>On-screen Show (16:9)</PresentationFormat>
  <Paragraphs>384</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Temperature Monitoring System</dc:title>
  <dc:subject>PptxGenJS Presentation</dc:subject>
  <dc:creator>Group 1 – CG 221</dc:creator>
  <cp:lastModifiedBy>Sinana Dusala</cp:lastModifiedBy>
  <cp:revision>2</cp:revision>
  <dcterms:created xsi:type="dcterms:W3CDTF">2026-06-18T04:27:27Z</dcterms:created>
  <dcterms:modified xsi:type="dcterms:W3CDTF">2026-06-18T05:24:36Z</dcterms:modified>
</cp:coreProperties>
</file>